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224" y="2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60606E4B-8BB7-4D0F-A98F-513690826B83}" type="datetimeFigureOut">
              <a:rPr lang="en-US" smtClean="0"/>
              <a:t>6/8/26</a:t>
            </a:fld>
            <a:endParaRPr lang="en-US"/>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DBB916C5-C009-406B-8AC3-973E2E162747}" type="slidenum">
              <a:rPr lang="en-US" smtClean="0"/>
              <a:t>‹#›</a:t>
            </a:fld>
            <a:endParaRPr lang="en-US"/>
          </a:p>
        </p:txBody>
      </p:sp>
    </p:spTree>
    <p:extLst>
      <p:ext uri="{BB962C8B-B14F-4D97-AF65-F5344CB8AC3E}">
        <p14:creationId xmlns:p14="http://schemas.microsoft.com/office/powerpoint/2010/main" val="2501746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the Rous Coffee Management System, or RCMS. Explain that this presentation summarizes the requirements, main models, prototype walkthrough, deployment plan, and expected value of the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order of the presentation. Mention that the goal is to show not only what the system does, but why it is needed and how it can be deployed for daily store operations.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business problem in simple terms. The coffee shop needs one place to manage orders, inventory, schedules, employees, and reports. RCMS turns separate manual tasks into a connected workflow.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three major user groups. Employees focus on orders and schedule viewing. The store manager handles inventory and scheduling. The owner uses reports for decisions.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core functional requirements. RCMS must handle orders, inventory, scheduling, and reports. These are the major sections of the prototype and the main screens in the system.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non-functional requirements make the system practical. The system should be easy to use, reliable, secure, and fast enough for store operations. Highlight the special features such as alerts and dashboards.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describe the overall system boundary. The diagram shows who interacts with RCMS and what information moves between the users and the system.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DFD-0 converts the context diagram into internal processes. The system processes orders, inventory, schedules, and reports while using three main data stores.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ERD at a high level. Emphasize that the database supports the system forms by linking orders to items, products to inventory, schedules to employees, and reports to business records.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demo, start with the login and dashboard. Then move into the order workflow: create a new order, add order items, calculate the total, and update the order status.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show the other required forms. Inventory helps track product quantities and low-stock alerts. The schedule form manages employee shifts. The report form creates the information the owner needs.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rollout plan. The system should be tested with sample data, then loaded with real product and employee data. A small pilot helps identify problems before full use.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value of the system. RCMS saves time, reduces errors, and improves decision-making. Future enhancements could include online ordering, loyalty features, mobile schedule viewing, forecasting, and multi-store support.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B13"/>
        </a:solidFill>
        <a:effectLst/>
      </p:bgPr>
    </p:bg>
    <p:spTree>
      <p:nvGrpSpPr>
        <p:cNvPr id="1" name=""/>
        <p:cNvGrpSpPr/>
        <p:nvPr/>
      </p:nvGrpSpPr>
      <p:grpSpPr>
        <a:xfrm>
          <a:off x="0" y="0"/>
          <a:ext cx="0" cy="0"/>
          <a:chOff x="0" y="0"/>
          <a:chExt cx="0" cy="0"/>
        </a:xfrm>
      </p:grpSpPr>
      <p:pic>
        <p:nvPicPr>
          <p:cNvPr id="2" name="Image 0" descr="/mnt/data/coffee_dark.png"/>
          <p:cNvPicPr>
            <a:picLocks noChangeAspect="1"/>
          </p:cNvPicPr>
          <p:nvPr/>
        </p:nvPicPr>
        <p:blipFill>
          <a:blip r:embed="rId3"/>
          <a:srcRect r="-51"/>
          <a:stretch/>
        </p:blipFill>
        <p:spPr>
          <a:xfrm>
            <a:off x="0" y="0"/>
            <a:ext cx="12191695" cy="6858000"/>
          </a:xfrm>
          <a:prstGeom prst="rect">
            <a:avLst/>
          </a:prstGeom>
        </p:spPr>
      </p:pic>
      <p:sp>
        <p:nvSpPr>
          <p:cNvPr id="3" name="Shape 0"/>
          <p:cNvSpPr/>
          <p:nvPr/>
        </p:nvSpPr>
        <p:spPr>
          <a:xfrm>
            <a:off x="0" y="0"/>
            <a:ext cx="5394960" cy="6858000"/>
          </a:xfrm>
          <a:prstGeom prst="rect">
            <a:avLst/>
          </a:prstGeom>
          <a:solidFill>
            <a:srgbClr val="2A1B13">
              <a:alpha val="98000"/>
            </a:srgbClr>
          </a:solidFill>
          <a:ln w="12700">
            <a:solidFill>
              <a:srgbClr val="2A1B13">
                <a:alpha val="0"/>
              </a:srgbClr>
            </a:solidFill>
            <a:prstDash val="solid"/>
          </a:ln>
        </p:spPr>
        <p:txBody>
          <a:bodyPr/>
          <a:lstStyle/>
          <a:p>
            <a:endParaRPr lang="en-US"/>
          </a:p>
        </p:txBody>
      </p:sp>
      <p:sp>
        <p:nvSpPr>
          <p:cNvPr id="4" name="Text 1"/>
          <p:cNvSpPr/>
          <p:nvPr/>
        </p:nvSpPr>
        <p:spPr>
          <a:xfrm>
            <a:off x="658368" y="1325880"/>
            <a:ext cx="4861588" cy="1325880"/>
          </a:xfrm>
          <a:prstGeom prst="rect">
            <a:avLst/>
          </a:prstGeom>
          <a:noFill/>
          <a:ln/>
        </p:spPr>
        <p:txBody>
          <a:bodyPr wrap="square" lIns="254" tIns="254" rIns="254" bIns="254" rtlCol="0" anchor="ctr">
            <a:normAutofit/>
          </a:bodyP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Rous Coffee</a:t>
            </a:r>
            <a:endParaRPr lang="en-US" sz="3800" dirty="0"/>
          </a:p>
          <a:p>
            <a:pPr marL="0" indent="0">
              <a:buNone/>
            </a:pPr>
            <a:r>
              <a:rPr lang="en-US" sz="3800" b="1" dirty="0">
                <a:solidFill>
                  <a:srgbClr val="FFFFFF"/>
                </a:solidFill>
                <a:latin typeface="Aptos Display" pitchFamily="34" charset="0"/>
                <a:ea typeface="Aptos Display" pitchFamily="34" charset="-122"/>
                <a:cs typeface="Aptos Display" pitchFamily="34" charset="-120"/>
              </a:rPr>
              <a:t>Management System</a:t>
            </a:r>
            <a:endParaRPr lang="en-US" sz="3800" dirty="0"/>
          </a:p>
        </p:txBody>
      </p:sp>
      <p:sp>
        <p:nvSpPr>
          <p:cNvPr id="5" name="Text 2"/>
          <p:cNvSpPr/>
          <p:nvPr/>
        </p:nvSpPr>
        <p:spPr>
          <a:xfrm>
            <a:off x="676656" y="2670048"/>
            <a:ext cx="2743200" cy="347472"/>
          </a:xfrm>
          <a:prstGeom prst="rect">
            <a:avLst/>
          </a:prstGeom>
          <a:noFill/>
          <a:ln/>
        </p:spPr>
        <p:txBody>
          <a:bodyPr wrap="square" lIns="0" tIns="0" rIns="0" bIns="0" rtlCol="0" anchor="ctr"/>
          <a:lstStyle/>
          <a:p>
            <a:pPr marL="0" indent="0">
              <a:buNone/>
            </a:pPr>
            <a:r>
              <a:rPr lang="en-US" sz="2200" b="1" dirty="0">
                <a:solidFill>
                  <a:srgbClr val="C9823C"/>
                </a:solidFill>
                <a:latin typeface="Aptos Display" pitchFamily="34" charset="0"/>
                <a:ea typeface="Aptos Display" pitchFamily="34" charset="-122"/>
                <a:cs typeface="Aptos Display" pitchFamily="34" charset="-120"/>
              </a:rPr>
              <a:t>(RCMS)</a:t>
            </a:r>
            <a:endParaRPr lang="en-US" sz="2200" dirty="0"/>
          </a:p>
        </p:txBody>
      </p:sp>
      <p:sp>
        <p:nvSpPr>
          <p:cNvPr id="6" name="Text 3"/>
          <p:cNvSpPr/>
          <p:nvPr/>
        </p:nvSpPr>
        <p:spPr>
          <a:xfrm>
            <a:off x="685800" y="3246120"/>
            <a:ext cx="4434840" cy="347472"/>
          </a:xfrm>
          <a:prstGeom prst="rect">
            <a:avLst/>
          </a:prstGeom>
          <a:noFill/>
          <a:ln/>
        </p:spPr>
        <p:txBody>
          <a:bodyPr wrap="square" lIns="0" tIns="0" rIns="0" bIns="0" rtlCol="0" anchor="ctr"/>
          <a:lstStyle/>
          <a:p>
            <a:pPr marL="0" indent="0">
              <a:buNone/>
            </a:pPr>
            <a:r>
              <a:rPr lang="en-US" sz="1700" dirty="0">
                <a:solidFill>
                  <a:srgbClr val="F7F2EA"/>
                </a:solidFill>
              </a:rPr>
              <a:t>HW6 Final Project Presentation</a:t>
            </a:r>
            <a:endParaRPr lang="en-US" sz="1700" dirty="0"/>
          </a:p>
        </p:txBody>
      </p:sp>
      <p:sp>
        <p:nvSpPr>
          <p:cNvPr id="7" name="Text 4"/>
          <p:cNvSpPr/>
          <p:nvPr/>
        </p:nvSpPr>
        <p:spPr>
          <a:xfrm>
            <a:off x="685800" y="3694176"/>
            <a:ext cx="4572000" cy="310896"/>
          </a:xfrm>
          <a:prstGeom prst="rect">
            <a:avLst/>
          </a:prstGeom>
          <a:noFill/>
          <a:ln/>
        </p:spPr>
        <p:txBody>
          <a:bodyPr wrap="square" lIns="0" tIns="0" rIns="0" bIns="0" rtlCol="0" anchor="ctr"/>
          <a:lstStyle/>
          <a:p>
            <a:pPr marL="0" indent="0">
              <a:buNone/>
            </a:pPr>
            <a:r>
              <a:rPr lang="en-US" sz="1350" dirty="0">
                <a:solidFill>
                  <a:srgbClr val="E9D8C7"/>
                </a:solidFill>
              </a:rPr>
              <a:t>Requirement recap • Models • Prototype • Deployment</a:t>
            </a:r>
            <a:endParaRPr lang="en-US" sz="1350" dirty="0"/>
          </a:p>
        </p:txBody>
      </p:sp>
      <p:sp>
        <p:nvSpPr>
          <p:cNvPr id="8" name="Text 5"/>
          <p:cNvSpPr/>
          <p:nvPr/>
        </p:nvSpPr>
        <p:spPr>
          <a:xfrm>
            <a:off x="685800" y="5440680"/>
            <a:ext cx="3474720" cy="384048"/>
          </a:xfrm>
          <a:prstGeom prst="rect">
            <a:avLst/>
          </a:prstGeom>
          <a:solidFill>
            <a:srgbClr val="6F8F4E"/>
          </a:solidFill>
          <a:ln>
            <a:solidFill>
              <a:srgbClr val="6F8F4E">
                <a:alpha val="0"/>
              </a:srgbClr>
            </a:solidFill>
          </a:ln>
        </p:spPr>
        <p:txBody>
          <a:bodyPr wrap="square" lIns="762" tIns="762" rIns="762" bIns="762" rtlCol="0" anchor="ctr">
            <a:normAutofit/>
          </a:bodyPr>
          <a:lstStyle/>
          <a:p>
            <a:pPr marL="0" indent="0" algn="ctr">
              <a:buNone/>
            </a:pPr>
            <a:r>
              <a:rPr lang="en-US" sz="1200" b="1" dirty="0">
                <a:solidFill>
                  <a:srgbClr val="FFFFFF"/>
                </a:solidFill>
              </a:rPr>
              <a:t>Systems Analysis and Design S26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2EA"/>
          </a:solidFill>
          <a:ln w="12700">
            <a:solidFill>
              <a:srgbClr val="F7F2EA">
                <a:alpha val="0"/>
              </a:srgbClr>
            </a:solidFill>
            <a:prstDash val="solid"/>
          </a:ln>
        </p:spPr>
        <p:txBody>
          <a:bodyPr/>
          <a:lstStyle/>
          <a:p>
            <a:endParaRPr lang="en-US"/>
          </a:p>
        </p:txBody>
      </p:sp>
      <p:sp>
        <p:nvSpPr>
          <p:cNvPr id="3" name="Shape 1"/>
          <p:cNvSpPr/>
          <p:nvPr/>
        </p:nvSpPr>
        <p:spPr>
          <a:xfrm>
            <a:off x="0" y="0"/>
            <a:ext cx="12191695" cy="237744"/>
          </a:xfrm>
          <a:prstGeom prst="rect">
            <a:avLst/>
          </a:prstGeom>
          <a:solidFill>
            <a:srgbClr val="4B2E20"/>
          </a:solidFill>
          <a:ln w="12700">
            <a:solidFill>
              <a:srgbClr val="4B2E20">
                <a:alpha val="0"/>
              </a:srgbClr>
            </a:solidFill>
            <a:prstDash val="solid"/>
          </a:ln>
        </p:spPr>
        <p:txBody>
          <a:bodyPr/>
          <a:lstStyle/>
          <a:p>
            <a:endParaRPr lang="en-US"/>
          </a:p>
        </p:txBody>
      </p:sp>
      <p:sp>
        <p:nvSpPr>
          <p:cNvPr id="4" name="Text 2"/>
          <p:cNvSpPr/>
          <p:nvPr/>
        </p:nvSpPr>
        <p:spPr>
          <a:xfrm>
            <a:off x="530352" y="438912"/>
            <a:ext cx="8412480" cy="411480"/>
          </a:xfrm>
          <a:prstGeom prst="rect">
            <a:avLst/>
          </a:prstGeom>
          <a:noFill/>
          <a:ln/>
        </p:spPr>
        <p:txBody>
          <a:bodyPr wrap="square" lIns="0" tIns="0" rIns="0" bIns="0"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10-minute presentation roadmap</a:t>
            </a:r>
            <a:endParaRPr lang="en-US" sz="2400" dirty="0"/>
          </a:p>
        </p:txBody>
      </p:sp>
      <p:sp>
        <p:nvSpPr>
          <p:cNvPr id="5" name="Text 3"/>
          <p:cNvSpPr/>
          <p:nvPr/>
        </p:nvSpPr>
        <p:spPr>
          <a:xfrm>
            <a:off x="548640" y="932688"/>
            <a:ext cx="8778240" cy="256032"/>
          </a:xfrm>
          <a:prstGeom prst="rect">
            <a:avLst/>
          </a:prstGeom>
          <a:noFill/>
          <a:ln/>
        </p:spPr>
        <p:txBody>
          <a:bodyPr wrap="square" lIns="0" tIns="0" rIns="0" bIns="0" rtlCol="0" anchor="ctr"/>
          <a:lstStyle/>
          <a:p>
            <a:pPr marL="0" indent="0">
              <a:buNone/>
            </a:pPr>
            <a:r>
              <a:rPr lang="en-US" sz="1050" dirty="0">
                <a:solidFill>
                  <a:srgbClr val="64748B"/>
                </a:solidFill>
              </a:rPr>
              <a:t>A clear path from business problem to prototype demo and value</a:t>
            </a:r>
            <a:endParaRPr lang="en-US" sz="1050" dirty="0"/>
          </a:p>
        </p:txBody>
      </p:sp>
      <p:sp>
        <p:nvSpPr>
          <p:cNvPr id="6" name="Text 4"/>
          <p:cNvSpPr/>
          <p:nvPr/>
        </p:nvSpPr>
        <p:spPr>
          <a:xfrm>
            <a:off x="10899648" y="502920"/>
            <a:ext cx="685800" cy="310896"/>
          </a:xfrm>
          <a:prstGeom prst="rect">
            <a:avLst/>
          </a:prstGeom>
          <a:noFill/>
          <a:ln/>
        </p:spPr>
        <p:txBody>
          <a:bodyPr wrap="square" lIns="0" tIns="0" rIns="0" bIns="0" rtlCol="0" anchor="ctr"/>
          <a:lstStyle/>
          <a:p>
            <a:pPr marL="0" indent="0" algn="r">
              <a:buNone/>
            </a:pPr>
            <a:r>
              <a:rPr lang="en-US" sz="1200" b="1" dirty="0">
                <a:solidFill>
                  <a:srgbClr val="C9823C"/>
                </a:solidFill>
              </a:rPr>
              <a:t>02</a:t>
            </a:r>
            <a:endParaRPr lang="en-US" sz="1200" dirty="0"/>
          </a:p>
        </p:txBody>
      </p:sp>
      <p:sp>
        <p:nvSpPr>
          <p:cNvPr id="7" name="Shape 5"/>
          <p:cNvSpPr/>
          <p:nvPr/>
        </p:nvSpPr>
        <p:spPr>
          <a:xfrm>
            <a:off x="548640" y="1115568"/>
            <a:ext cx="11064240" cy="0"/>
          </a:xfrm>
          <a:prstGeom prst="line">
            <a:avLst/>
          </a:prstGeom>
          <a:noFill/>
          <a:ln w="12700">
            <a:solidFill>
              <a:srgbClr val="D7C7B6"/>
            </a:solidFill>
            <a:prstDash val="solid"/>
          </a:ln>
        </p:spPr>
        <p:txBody>
          <a:bodyPr/>
          <a:lstStyle/>
          <a:p>
            <a:endParaRPr lang="en-US"/>
          </a:p>
        </p:txBody>
      </p:sp>
      <p:sp>
        <p:nvSpPr>
          <p:cNvPr id="8" name="Text 6"/>
          <p:cNvSpPr/>
          <p:nvPr/>
        </p:nvSpPr>
        <p:spPr>
          <a:xfrm>
            <a:off x="685800" y="1481328"/>
            <a:ext cx="566928" cy="566928"/>
          </a:xfrm>
          <a:prstGeom prst="rect">
            <a:avLst/>
          </a:prstGeom>
          <a:solidFill>
            <a:srgbClr val="6F8F4E"/>
          </a:solidFill>
          <a:ln w="12700">
            <a:solidFill>
              <a:srgbClr val="6F8F4E"/>
            </a:solidFill>
          </a:ln>
        </p:spPr>
        <p:txBody>
          <a:bodyPr wrap="square" lIns="1397" tIns="1397" rIns="1397" bIns="1397"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Text 7"/>
          <p:cNvSpPr/>
          <p:nvPr/>
        </p:nvSpPr>
        <p:spPr>
          <a:xfrm>
            <a:off x="1435608" y="1499616"/>
            <a:ext cx="2560320" cy="310896"/>
          </a:xfrm>
          <a:prstGeom prst="rect">
            <a:avLst/>
          </a:prstGeom>
          <a:noFill/>
          <a:ln/>
        </p:spPr>
        <p:txBody>
          <a:bodyPr wrap="square" lIns="0" tIns="0" rIns="0" bIns="0" rtlCol="0" anchor="ctr">
            <a:normAutofit/>
          </a:bodyPr>
          <a:lstStyle/>
          <a:p>
            <a:pPr marL="0" indent="0">
              <a:buNone/>
            </a:pPr>
            <a:r>
              <a:rPr lang="en-US" sz="1800" b="1" dirty="0">
                <a:solidFill>
                  <a:srgbClr val="111827"/>
                </a:solidFill>
              </a:rPr>
              <a:t>System overview</a:t>
            </a:r>
            <a:endParaRPr lang="en-US" sz="1800" dirty="0"/>
          </a:p>
        </p:txBody>
      </p:sp>
      <p:sp>
        <p:nvSpPr>
          <p:cNvPr id="10" name="Text 8"/>
          <p:cNvSpPr/>
          <p:nvPr/>
        </p:nvSpPr>
        <p:spPr>
          <a:xfrm>
            <a:off x="1435608" y="1892808"/>
            <a:ext cx="2697480" cy="438912"/>
          </a:xfrm>
          <a:prstGeom prst="rect">
            <a:avLst/>
          </a:prstGeom>
          <a:noFill/>
          <a:ln/>
        </p:spPr>
        <p:txBody>
          <a:bodyPr wrap="square" lIns="0" tIns="0" rIns="0" bIns="0" rtlCol="0" anchor="ctr">
            <a:normAutofit/>
          </a:bodyPr>
          <a:lstStyle/>
          <a:p>
            <a:pPr marL="0" indent="0">
              <a:buNone/>
            </a:pPr>
            <a:r>
              <a:rPr lang="en-US" sz="1150" dirty="0">
                <a:solidFill>
                  <a:srgbClr val="64748B"/>
                </a:solidFill>
              </a:rPr>
              <a:t>Company, challenge, and opportunity</a:t>
            </a:r>
            <a:endParaRPr lang="en-US" sz="1150" dirty="0"/>
          </a:p>
        </p:txBody>
      </p:sp>
      <p:sp>
        <p:nvSpPr>
          <p:cNvPr id="11" name="Shape 9"/>
          <p:cNvSpPr/>
          <p:nvPr/>
        </p:nvSpPr>
        <p:spPr>
          <a:xfrm>
            <a:off x="4069080" y="1773936"/>
            <a:ext cx="256032" cy="0"/>
          </a:xfrm>
          <a:prstGeom prst="line">
            <a:avLst/>
          </a:prstGeom>
          <a:noFill/>
          <a:ln w="15240">
            <a:solidFill>
              <a:srgbClr val="D7C7B6"/>
            </a:solidFill>
            <a:prstDash val="solid"/>
            <a:headEnd type="none"/>
            <a:tailEnd type="triangle"/>
          </a:ln>
        </p:spPr>
        <p:txBody>
          <a:bodyPr/>
          <a:lstStyle/>
          <a:p>
            <a:endParaRPr lang="en-US"/>
          </a:p>
        </p:txBody>
      </p:sp>
      <p:sp>
        <p:nvSpPr>
          <p:cNvPr id="12" name="Text 10"/>
          <p:cNvSpPr/>
          <p:nvPr/>
        </p:nvSpPr>
        <p:spPr>
          <a:xfrm>
            <a:off x="4389120" y="1481328"/>
            <a:ext cx="566928" cy="566928"/>
          </a:xfrm>
          <a:prstGeom prst="rect">
            <a:avLst/>
          </a:prstGeom>
          <a:solidFill>
            <a:srgbClr val="6F8F4E"/>
          </a:solidFill>
          <a:ln w="12700">
            <a:solidFill>
              <a:srgbClr val="6F8F4E"/>
            </a:solidFill>
          </a:ln>
        </p:spPr>
        <p:txBody>
          <a:bodyPr wrap="square" lIns="1397" tIns="1397" rIns="1397" bIns="1397"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3" name="Text 11"/>
          <p:cNvSpPr/>
          <p:nvPr/>
        </p:nvSpPr>
        <p:spPr>
          <a:xfrm>
            <a:off x="5138928" y="1499616"/>
            <a:ext cx="2560320" cy="310896"/>
          </a:xfrm>
          <a:prstGeom prst="rect">
            <a:avLst/>
          </a:prstGeom>
          <a:noFill/>
          <a:ln/>
        </p:spPr>
        <p:txBody>
          <a:bodyPr wrap="square" lIns="0" tIns="0" rIns="0" bIns="0" rtlCol="0" anchor="ctr">
            <a:normAutofit/>
          </a:bodyPr>
          <a:lstStyle/>
          <a:p>
            <a:pPr marL="0" indent="0">
              <a:buNone/>
            </a:pPr>
            <a:r>
              <a:rPr lang="en-US" sz="1800" b="1" dirty="0">
                <a:solidFill>
                  <a:srgbClr val="111827"/>
                </a:solidFill>
              </a:rPr>
              <a:t>Requirements</a:t>
            </a:r>
            <a:endParaRPr lang="en-US" sz="1800" dirty="0"/>
          </a:p>
        </p:txBody>
      </p:sp>
      <p:sp>
        <p:nvSpPr>
          <p:cNvPr id="14" name="Text 12"/>
          <p:cNvSpPr/>
          <p:nvPr/>
        </p:nvSpPr>
        <p:spPr>
          <a:xfrm>
            <a:off x="5138928" y="1892808"/>
            <a:ext cx="2697480" cy="438912"/>
          </a:xfrm>
          <a:prstGeom prst="rect">
            <a:avLst/>
          </a:prstGeom>
          <a:noFill/>
          <a:ln/>
        </p:spPr>
        <p:txBody>
          <a:bodyPr wrap="square" lIns="0" tIns="0" rIns="0" bIns="0" rtlCol="0" anchor="ctr">
            <a:normAutofit/>
          </a:bodyPr>
          <a:lstStyle/>
          <a:p>
            <a:pPr marL="0" indent="0">
              <a:buNone/>
            </a:pPr>
            <a:r>
              <a:rPr lang="en-US" sz="1150" dirty="0">
                <a:solidFill>
                  <a:srgbClr val="64748B"/>
                </a:solidFill>
              </a:rPr>
              <a:t>Functional and non-functional needs</a:t>
            </a:r>
            <a:endParaRPr lang="en-US" sz="1150" dirty="0"/>
          </a:p>
        </p:txBody>
      </p:sp>
      <p:sp>
        <p:nvSpPr>
          <p:cNvPr id="15" name="Shape 13"/>
          <p:cNvSpPr/>
          <p:nvPr/>
        </p:nvSpPr>
        <p:spPr>
          <a:xfrm>
            <a:off x="7772400" y="1773936"/>
            <a:ext cx="256032" cy="0"/>
          </a:xfrm>
          <a:prstGeom prst="line">
            <a:avLst/>
          </a:prstGeom>
          <a:noFill/>
          <a:ln w="15240">
            <a:solidFill>
              <a:srgbClr val="D7C7B6"/>
            </a:solidFill>
            <a:prstDash val="solid"/>
            <a:headEnd type="none"/>
            <a:tailEnd type="triangle"/>
          </a:ln>
        </p:spPr>
        <p:txBody>
          <a:bodyPr/>
          <a:lstStyle/>
          <a:p>
            <a:endParaRPr lang="en-US"/>
          </a:p>
        </p:txBody>
      </p:sp>
      <p:sp>
        <p:nvSpPr>
          <p:cNvPr id="16" name="Text 14"/>
          <p:cNvSpPr/>
          <p:nvPr/>
        </p:nvSpPr>
        <p:spPr>
          <a:xfrm>
            <a:off x="8092440" y="1481328"/>
            <a:ext cx="566928" cy="566928"/>
          </a:xfrm>
          <a:prstGeom prst="rect">
            <a:avLst/>
          </a:prstGeom>
          <a:solidFill>
            <a:srgbClr val="6F8F4E"/>
          </a:solidFill>
          <a:ln w="12700">
            <a:solidFill>
              <a:srgbClr val="6F8F4E"/>
            </a:solidFill>
          </a:ln>
        </p:spPr>
        <p:txBody>
          <a:bodyPr wrap="square" lIns="1397" tIns="1397" rIns="1397" bIns="1397"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17" name="Text 15"/>
          <p:cNvSpPr/>
          <p:nvPr/>
        </p:nvSpPr>
        <p:spPr>
          <a:xfrm>
            <a:off x="8842248" y="1499616"/>
            <a:ext cx="2560320" cy="310896"/>
          </a:xfrm>
          <a:prstGeom prst="rect">
            <a:avLst/>
          </a:prstGeom>
          <a:noFill/>
          <a:ln/>
        </p:spPr>
        <p:txBody>
          <a:bodyPr wrap="square" lIns="0" tIns="0" rIns="0" bIns="0" rtlCol="0" anchor="ctr">
            <a:normAutofit/>
          </a:bodyPr>
          <a:lstStyle/>
          <a:p>
            <a:pPr marL="0" indent="0">
              <a:buNone/>
            </a:pPr>
            <a:r>
              <a:rPr lang="en-US" sz="1800" b="1" dirty="0">
                <a:solidFill>
                  <a:srgbClr val="111827"/>
                </a:solidFill>
              </a:rPr>
              <a:t>Models</a:t>
            </a:r>
            <a:endParaRPr lang="en-US" sz="1800" dirty="0"/>
          </a:p>
        </p:txBody>
      </p:sp>
      <p:sp>
        <p:nvSpPr>
          <p:cNvPr id="18" name="Text 16"/>
          <p:cNvSpPr/>
          <p:nvPr/>
        </p:nvSpPr>
        <p:spPr>
          <a:xfrm>
            <a:off x="8842248" y="1892808"/>
            <a:ext cx="2697480" cy="438912"/>
          </a:xfrm>
          <a:prstGeom prst="rect">
            <a:avLst/>
          </a:prstGeom>
          <a:noFill/>
          <a:ln/>
        </p:spPr>
        <p:txBody>
          <a:bodyPr wrap="square" lIns="0" tIns="0" rIns="0" bIns="0" rtlCol="0" anchor="ctr">
            <a:normAutofit/>
          </a:bodyPr>
          <a:lstStyle/>
          <a:p>
            <a:pPr marL="0" indent="0">
              <a:buNone/>
            </a:pPr>
            <a:r>
              <a:rPr lang="en-US" sz="1150" dirty="0">
                <a:solidFill>
                  <a:srgbClr val="64748B"/>
                </a:solidFill>
              </a:rPr>
              <a:t>Context diagram, DFD-0, and ERD</a:t>
            </a:r>
            <a:endParaRPr lang="en-US" sz="1150" dirty="0"/>
          </a:p>
        </p:txBody>
      </p:sp>
      <p:sp>
        <p:nvSpPr>
          <p:cNvPr id="19" name="Shape 17"/>
          <p:cNvSpPr/>
          <p:nvPr/>
        </p:nvSpPr>
        <p:spPr>
          <a:xfrm>
            <a:off x="11475720" y="1773936"/>
            <a:ext cx="256032" cy="0"/>
          </a:xfrm>
          <a:prstGeom prst="line">
            <a:avLst/>
          </a:prstGeom>
          <a:noFill/>
          <a:ln w="15240">
            <a:solidFill>
              <a:srgbClr val="D7C7B6"/>
            </a:solidFill>
            <a:prstDash val="solid"/>
            <a:headEnd type="none"/>
            <a:tailEnd type="triangle"/>
          </a:ln>
        </p:spPr>
        <p:txBody>
          <a:bodyPr/>
          <a:lstStyle/>
          <a:p>
            <a:endParaRPr lang="en-US"/>
          </a:p>
        </p:txBody>
      </p:sp>
      <p:sp>
        <p:nvSpPr>
          <p:cNvPr id="20" name="Text 18"/>
          <p:cNvSpPr/>
          <p:nvPr/>
        </p:nvSpPr>
        <p:spPr>
          <a:xfrm>
            <a:off x="685800" y="3447288"/>
            <a:ext cx="566928" cy="566928"/>
          </a:xfrm>
          <a:prstGeom prst="rect">
            <a:avLst/>
          </a:prstGeom>
          <a:solidFill>
            <a:srgbClr val="C9823C"/>
          </a:solidFill>
          <a:ln w="12700">
            <a:solidFill>
              <a:srgbClr val="C9823C"/>
            </a:solidFill>
          </a:ln>
        </p:spPr>
        <p:txBody>
          <a:bodyPr wrap="square" lIns="1397" tIns="1397" rIns="1397" bIns="1397"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1" name="Text 19"/>
          <p:cNvSpPr/>
          <p:nvPr/>
        </p:nvSpPr>
        <p:spPr>
          <a:xfrm>
            <a:off x="1435608" y="3465576"/>
            <a:ext cx="2560320" cy="310896"/>
          </a:xfrm>
          <a:prstGeom prst="rect">
            <a:avLst/>
          </a:prstGeom>
          <a:noFill/>
          <a:ln/>
        </p:spPr>
        <p:txBody>
          <a:bodyPr wrap="square" lIns="0" tIns="0" rIns="0" bIns="0" rtlCol="0" anchor="ctr">
            <a:normAutofit/>
          </a:bodyPr>
          <a:lstStyle/>
          <a:p>
            <a:pPr marL="0" indent="0">
              <a:buNone/>
            </a:pPr>
            <a:r>
              <a:rPr lang="en-US" sz="1800" b="1" dirty="0">
                <a:solidFill>
                  <a:srgbClr val="111827"/>
                </a:solidFill>
              </a:rPr>
              <a:t>Prototype</a:t>
            </a:r>
            <a:endParaRPr lang="en-US" sz="1800" dirty="0"/>
          </a:p>
        </p:txBody>
      </p:sp>
      <p:sp>
        <p:nvSpPr>
          <p:cNvPr id="22" name="Text 20"/>
          <p:cNvSpPr/>
          <p:nvPr/>
        </p:nvSpPr>
        <p:spPr>
          <a:xfrm>
            <a:off x="1435608" y="3858768"/>
            <a:ext cx="2697480" cy="438912"/>
          </a:xfrm>
          <a:prstGeom prst="rect">
            <a:avLst/>
          </a:prstGeom>
          <a:noFill/>
          <a:ln/>
        </p:spPr>
        <p:txBody>
          <a:bodyPr wrap="square" lIns="0" tIns="0" rIns="0" bIns="0" rtlCol="0" anchor="ctr">
            <a:normAutofit/>
          </a:bodyPr>
          <a:lstStyle/>
          <a:p>
            <a:pPr marL="0" indent="0">
              <a:buNone/>
            </a:pPr>
            <a:r>
              <a:rPr lang="en-US" sz="1150" dirty="0">
                <a:solidFill>
                  <a:srgbClr val="64748B"/>
                </a:solidFill>
              </a:rPr>
              <a:t>Core forms and walkthrough demo</a:t>
            </a:r>
            <a:endParaRPr lang="en-US" sz="1150" dirty="0"/>
          </a:p>
        </p:txBody>
      </p:sp>
      <p:sp>
        <p:nvSpPr>
          <p:cNvPr id="23" name="Shape 21"/>
          <p:cNvSpPr/>
          <p:nvPr/>
        </p:nvSpPr>
        <p:spPr>
          <a:xfrm>
            <a:off x="4069080" y="3739896"/>
            <a:ext cx="256032" cy="0"/>
          </a:xfrm>
          <a:prstGeom prst="line">
            <a:avLst/>
          </a:prstGeom>
          <a:noFill/>
          <a:ln w="15240">
            <a:solidFill>
              <a:srgbClr val="D7C7B6"/>
            </a:solidFill>
            <a:prstDash val="solid"/>
            <a:headEnd type="none"/>
            <a:tailEnd type="triangle"/>
          </a:ln>
        </p:spPr>
        <p:txBody>
          <a:bodyPr/>
          <a:lstStyle/>
          <a:p>
            <a:endParaRPr lang="en-US"/>
          </a:p>
        </p:txBody>
      </p:sp>
      <p:sp>
        <p:nvSpPr>
          <p:cNvPr id="24" name="Text 22"/>
          <p:cNvSpPr/>
          <p:nvPr/>
        </p:nvSpPr>
        <p:spPr>
          <a:xfrm>
            <a:off x="4389120" y="3447288"/>
            <a:ext cx="566928" cy="566928"/>
          </a:xfrm>
          <a:prstGeom prst="rect">
            <a:avLst/>
          </a:prstGeom>
          <a:solidFill>
            <a:srgbClr val="C9823C"/>
          </a:solidFill>
          <a:ln w="12700">
            <a:solidFill>
              <a:srgbClr val="C9823C"/>
            </a:solidFill>
          </a:ln>
        </p:spPr>
        <p:txBody>
          <a:bodyPr wrap="square" lIns="1397" tIns="1397" rIns="1397" bIns="1397"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25" name="Text 23"/>
          <p:cNvSpPr/>
          <p:nvPr/>
        </p:nvSpPr>
        <p:spPr>
          <a:xfrm>
            <a:off x="5138928" y="3465576"/>
            <a:ext cx="2560320" cy="310896"/>
          </a:xfrm>
          <a:prstGeom prst="rect">
            <a:avLst/>
          </a:prstGeom>
          <a:noFill/>
          <a:ln/>
        </p:spPr>
        <p:txBody>
          <a:bodyPr wrap="square" lIns="0" tIns="0" rIns="0" bIns="0" rtlCol="0" anchor="ctr">
            <a:normAutofit/>
          </a:bodyPr>
          <a:lstStyle/>
          <a:p>
            <a:pPr marL="0" indent="0">
              <a:buNone/>
            </a:pPr>
            <a:r>
              <a:rPr lang="en-US" sz="1800" b="1" dirty="0">
                <a:solidFill>
                  <a:srgbClr val="111827"/>
                </a:solidFill>
              </a:rPr>
              <a:t>Deployment</a:t>
            </a:r>
            <a:endParaRPr lang="en-US" sz="1800" dirty="0"/>
          </a:p>
        </p:txBody>
      </p:sp>
      <p:sp>
        <p:nvSpPr>
          <p:cNvPr id="26" name="Text 24"/>
          <p:cNvSpPr/>
          <p:nvPr/>
        </p:nvSpPr>
        <p:spPr>
          <a:xfrm>
            <a:off x="5138928" y="3858768"/>
            <a:ext cx="2697480" cy="438912"/>
          </a:xfrm>
          <a:prstGeom prst="rect">
            <a:avLst/>
          </a:prstGeom>
          <a:noFill/>
          <a:ln/>
        </p:spPr>
        <p:txBody>
          <a:bodyPr wrap="square" lIns="0" tIns="0" rIns="0" bIns="0" rtlCol="0" anchor="ctr">
            <a:normAutofit/>
          </a:bodyPr>
          <a:lstStyle/>
          <a:p>
            <a:pPr marL="0" indent="0">
              <a:buNone/>
            </a:pPr>
            <a:r>
              <a:rPr lang="en-US" sz="1150" dirty="0">
                <a:solidFill>
                  <a:srgbClr val="64748B"/>
                </a:solidFill>
              </a:rPr>
              <a:t>Rollout, training, and support</a:t>
            </a:r>
            <a:endParaRPr lang="en-US" sz="1150" dirty="0"/>
          </a:p>
        </p:txBody>
      </p:sp>
      <p:sp>
        <p:nvSpPr>
          <p:cNvPr id="27" name="Shape 25"/>
          <p:cNvSpPr/>
          <p:nvPr/>
        </p:nvSpPr>
        <p:spPr>
          <a:xfrm>
            <a:off x="7772400" y="3739896"/>
            <a:ext cx="256032" cy="0"/>
          </a:xfrm>
          <a:prstGeom prst="line">
            <a:avLst/>
          </a:prstGeom>
          <a:noFill/>
          <a:ln w="15240">
            <a:solidFill>
              <a:srgbClr val="D7C7B6"/>
            </a:solidFill>
            <a:prstDash val="solid"/>
            <a:headEnd type="none"/>
            <a:tailEnd type="triangle"/>
          </a:ln>
        </p:spPr>
        <p:txBody>
          <a:bodyPr/>
          <a:lstStyle/>
          <a:p>
            <a:endParaRPr lang="en-US"/>
          </a:p>
        </p:txBody>
      </p:sp>
      <p:sp>
        <p:nvSpPr>
          <p:cNvPr id="28" name="Text 26"/>
          <p:cNvSpPr/>
          <p:nvPr/>
        </p:nvSpPr>
        <p:spPr>
          <a:xfrm>
            <a:off x="8092440" y="3447288"/>
            <a:ext cx="566928" cy="566928"/>
          </a:xfrm>
          <a:prstGeom prst="rect">
            <a:avLst/>
          </a:prstGeom>
          <a:solidFill>
            <a:srgbClr val="C9823C"/>
          </a:solidFill>
          <a:ln w="12700">
            <a:solidFill>
              <a:srgbClr val="C9823C"/>
            </a:solidFill>
          </a:ln>
        </p:spPr>
        <p:txBody>
          <a:bodyPr wrap="square" lIns="1397" tIns="1397" rIns="1397" bIns="1397"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6</a:t>
            </a:r>
            <a:endParaRPr lang="en-US" sz="2000" dirty="0"/>
          </a:p>
        </p:txBody>
      </p:sp>
      <p:sp>
        <p:nvSpPr>
          <p:cNvPr id="29" name="Text 27"/>
          <p:cNvSpPr/>
          <p:nvPr/>
        </p:nvSpPr>
        <p:spPr>
          <a:xfrm>
            <a:off x="8842248" y="3465576"/>
            <a:ext cx="2560320" cy="310896"/>
          </a:xfrm>
          <a:prstGeom prst="rect">
            <a:avLst/>
          </a:prstGeom>
          <a:noFill/>
          <a:ln/>
        </p:spPr>
        <p:txBody>
          <a:bodyPr wrap="square" lIns="0" tIns="0" rIns="0" bIns="0" rtlCol="0" anchor="ctr">
            <a:normAutofit/>
          </a:bodyPr>
          <a:lstStyle/>
          <a:p>
            <a:pPr marL="0" indent="0">
              <a:buNone/>
            </a:pPr>
            <a:r>
              <a:rPr lang="en-US" sz="1800" b="1" dirty="0">
                <a:solidFill>
                  <a:srgbClr val="111827"/>
                </a:solidFill>
              </a:rPr>
              <a:t>ROI &amp; future</a:t>
            </a:r>
            <a:endParaRPr lang="en-US" sz="1800" dirty="0"/>
          </a:p>
        </p:txBody>
      </p:sp>
      <p:sp>
        <p:nvSpPr>
          <p:cNvPr id="30" name="Text 28"/>
          <p:cNvSpPr/>
          <p:nvPr/>
        </p:nvSpPr>
        <p:spPr>
          <a:xfrm>
            <a:off x="8842248" y="3858768"/>
            <a:ext cx="2697480" cy="438912"/>
          </a:xfrm>
          <a:prstGeom prst="rect">
            <a:avLst/>
          </a:prstGeom>
          <a:noFill/>
          <a:ln/>
        </p:spPr>
        <p:txBody>
          <a:bodyPr wrap="square" lIns="0" tIns="0" rIns="0" bIns="0" rtlCol="0" anchor="ctr">
            <a:normAutofit/>
          </a:bodyPr>
          <a:lstStyle/>
          <a:p>
            <a:pPr marL="0" indent="0">
              <a:buNone/>
            </a:pPr>
            <a:r>
              <a:rPr lang="en-US" sz="1150" dirty="0">
                <a:solidFill>
                  <a:srgbClr val="64748B"/>
                </a:solidFill>
              </a:rPr>
              <a:t>Benefits and next improvements</a:t>
            </a:r>
            <a:endParaRPr lang="en-US" sz="1150" dirty="0"/>
          </a:p>
        </p:txBody>
      </p:sp>
      <p:sp>
        <p:nvSpPr>
          <p:cNvPr id="32" name="Text 30"/>
          <p:cNvSpPr/>
          <p:nvPr/>
        </p:nvSpPr>
        <p:spPr>
          <a:xfrm>
            <a:off x="548640" y="6565392"/>
            <a:ext cx="3840480" cy="164592"/>
          </a:xfrm>
          <a:prstGeom prst="rect">
            <a:avLst/>
          </a:prstGeom>
          <a:noFill/>
          <a:ln/>
        </p:spPr>
        <p:txBody>
          <a:bodyPr wrap="square" lIns="0" tIns="0" rIns="0" bIns="0" rtlCol="0" anchor="ctr"/>
          <a:lstStyle/>
          <a:p>
            <a:pPr marL="0" indent="0">
              <a:buNone/>
            </a:pPr>
            <a:r>
              <a:rPr lang="en-US" sz="850" dirty="0">
                <a:solidFill>
                  <a:srgbClr val="8B7765"/>
                </a:solidFill>
              </a:rPr>
              <a:t>RCMS Final Project Presentation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2EA"/>
          </a:solidFill>
          <a:ln w="12700">
            <a:solidFill>
              <a:srgbClr val="F7F2EA">
                <a:alpha val="0"/>
              </a:srgbClr>
            </a:solidFill>
            <a:prstDash val="solid"/>
          </a:ln>
        </p:spPr>
        <p:txBody>
          <a:bodyPr/>
          <a:lstStyle/>
          <a:p>
            <a:endParaRPr lang="en-US"/>
          </a:p>
        </p:txBody>
      </p:sp>
      <p:sp>
        <p:nvSpPr>
          <p:cNvPr id="3" name="Shape 1"/>
          <p:cNvSpPr/>
          <p:nvPr/>
        </p:nvSpPr>
        <p:spPr>
          <a:xfrm>
            <a:off x="0" y="0"/>
            <a:ext cx="12191695" cy="237744"/>
          </a:xfrm>
          <a:prstGeom prst="rect">
            <a:avLst/>
          </a:prstGeom>
          <a:solidFill>
            <a:srgbClr val="4B2E20"/>
          </a:solidFill>
          <a:ln w="12700">
            <a:solidFill>
              <a:srgbClr val="4B2E20">
                <a:alpha val="0"/>
              </a:srgbClr>
            </a:solidFill>
            <a:prstDash val="solid"/>
          </a:ln>
        </p:spPr>
        <p:txBody>
          <a:bodyPr/>
          <a:lstStyle/>
          <a:p>
            <a:endParaRPr lang="en-US"/>
          </a:p>
        </p:txBody>
      </p:sp>
      <p:sp>
        <p:nvSpPr>
          <p:cNvPr id="4" name="Text 2"/>
          <p:cNvSpPr/>
          <p:nvPr/>
        </p:nvSpPr>
        <p:spPr>
          <a:xfrm>
            <a:off x="530352" y="438912"/>
            <a:ext cx="8412480" cy="411480"/>
          </a:xfrm>
          <a:prstGeom prst="rect">
            <a:avLst/>
          </a:prstGeom>
          <a:noFill/>
          <a:ln/>
        </p:spPr>
        <p:txBody>
          <a:bodyPr wrap="square" lIns="0" tIns="0" rIns="0" bIns="0"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System overview: company challenge and opportunity</a:t>
            </a:r>
            <a:endParaRPr lang="en-US" sz="2400" dirty="0"/>
          </a:p>
        </p:txBody>
      </p:sp>
      <p:sp>
        <p:nvSpPr>
          <p:cNvPr id="5" name="Text 3"/>
          <p:cNvSpPr/>
          <p:nvPr/>
        </p:nvSpPr>
        <p:spPr>
          <a:xfrm>
            <a:off x="548640" y="932688"/>
            <a:ext cx="8778240" cy="256032"/>
          </a:xfrm>
          <a:prstGeom prst="rect">
            <a:avLst/>
          </a:prstGeom>
          <a:noFill/>
          <a:ln/>
        </p:spPr>
        <p:txBody>
          <a:bodyPr wrap="square" lIns="0" tIns="0" rIns="0" bIns="0" rtlCol="0" anchor="ctr"/>
          <a:lstStyle/>
          <a:p>
            <a:pPr marL="0" indent="0">
              <a:buNone/>
            </a:pPr>
            <a:r>
              <a:rPr lang="en-US" sz="1050" dirty="0">
                <a:solidFill>
                  <a:srgbClr val="64748B"/>
                </a:solidFill>
              </a:rPr>
              <a:t>RCMS supports a small coffee business that needs faster daily operations and better visibility</a:t>
            </a:r>
            <a:endParaRPr lang="en-US" sz="1050" dirty="0"/>
          </a:p>
        </p:txBody>
      </p:sp>
      <p:sp>
        <p:nvSpPr>
          <p:cNvPr id="6" name="Text 4"/>
          <p:cNvSpPr/>
          <p:nvPr/>
        </p:nvSpPr>
        <p:spPr>
          <a:xfrm>
            <a:off x="10899648" y="502920"/>
            <a:ext cx="685800" cy="310896"/>
          </a:xfrm>
          <a:prstGeom prst="rect">
            <a:avLst/>
          </a:prstGeom>
          <a:noFill/>
          <a:ln/>
        </p:spPr>
        <p:txBody>
          <a:bodyPr wrap="square" lIns="0" tIns="0" rIns="0" bIns="0" rtlCol="0" anchor="ctr"/>
          <a:lstStyle/>
          <a:p>
            <a:pPr marL="0" indent="0" algn="r">
              <a:buNone/>
            </a:pPr>
            <a:r>
              <a:rPr lang="en-US" sz="1200" b="1" dirty="0">
                <a:solidFill>
                  <a:srgbClr val="C9823C"/>
                </a:solidFill>
              </a:rPr>
              <a:t>03</a:t>
            </a:r>
            <a:endParaRPr lang="en-US" sz="1200" dirty="0"/>
          </a:p>
        </p:txBody>
      </p:sp>
      <p:sp>
        <p:nvSpPr>
          <p:cNvPr id="7" name="Shape 5"/>
          <p:cNvSpPr/>
          <p:nvPr/>
        </p:nvSpPr>
        <p:spPr>
          <a:xfrm>
            <a:off x="548640" y="1115568"/>
            <a:ext cx="11064240" cy="0"/>
          </a:xfrm>
          <a:prstGeom prst="line">
            <a:avLst/>
          </a:prstGeom>
          <a:noFill/>
          <a:ln w="12700">
            <a:solidFill>
              <a:srgbClr val="D7C7B6"/>
            </a:solidFill>
            <a:prstDash val="solid"/>
          </a:ln>
        </p:spPr>
        <p:txBody>
          <a:bodyPr/>
          <a:lstStyle/>
          <a:p>
            <a:endParaRPr lang="en-US"/>
          </a:p>
        </p:txBody>
      </p:sp>
      <p:pic>
        <p:nvPicPr>
          <p:cNvPr id="8" name="Image 0" descr="/mnt/data/coffee_soft.png"/>
          <p:cNvPicPr>
            <a:picLocks noChangeAspect="1"/>
          </p:cNvPicPr>
          <p:nvPr/>
        </p:nvPicPr>
        <p:blipFill>
          <a:blip r:embed="rId3"/>
          <a:srcRect l="32000" t="4000" r="15272" b="4000"/>
          <a:stretch/>
        </p:blipFill>
        <p:spPr>
          <a:xfrm>
            <a:off x="6537960" y="1234440"/>
            <a:ext cx="5074920" cy="4983480"/>
          </a:xfrm>
          <a:prstGeom prst="rect">
            <a:avLst/>
          </a:prstGeom>
        </p:spPr>
      </p:pic>
      <p:sp>
        <p:nvSpPr>
          <p:cNvPr id="9" name="Text 6"/>
          <p:cNvSpPr/>
          <p:nvPr/>
        </p:nvSpPr>
        <p:spPr>
          <a:xfrm>
            <a:off x="685800" y="1417320"/>
            <a:ext cx="5303520" cy="384048"/>
          </a:xfrm>
          <a:prstGeom prst="rect">
            <a:avLst/>
          </a:prstGeom>
          <a:noFill/>
          <a:ln/>
        </p:spPr>
        <p:txBody>
          <a:bodyPr wrap="square" lIns="0" tIns="0" rIns="0" bIns="0" rtlCol="0" anchor="ctr"/>
          <a:lstStyle/>
          <a:p>
            <a:pPr marL="0" indent="0">
              <a:buNone/>
            </a:pPr>
            <a:r>
              <a:rPr lang="en-US" sz="2400" b="1" dirty="0">
                <a:solidFill>
                  <a:srgbClr val="4B2E20"/>
                </a:solidFill>
              </a:rPr>
              <a:t>Current pain points</a:t>
            </a:r>
            <a:endParaRPr lang="en-US" sz="2400" dirty="0"/>
          </a:p>
        </p:txBody>
      </p:sp>
      <p:sp>
        <p:nvSpPr>
          <p:cNvPr id="10" name="Text 7"/>
          <p:cNvSpPr/>
          <p:nvPr/>
        </p:nvSpPr>
        <p:spPr>
          <a:xfrm>
            <a:off x="731520" y="1920240"/>
            <a:ext cx="640080" cy="640080"/>
          </a:xfrm>
          <a:prstGeom prst="rect">
            <a:avLst/>
          </a:prstGeom>
          <a:solidFill>
            <a:srgbClr val="C9823C"/>
          </a:solidFill>
          <a:ln>
            <a:solidFill>
              <a:srgbClr val="C9823C">
                <a:alpha val="0"/>
              </a:srgbClr>
            </a:solidFill>
          </a:ln>
        </p:spPr>
        <p:txBody>
          <a:bodyPr wrap="square" lIns="0" tIns="0" rIns="0" bIns="0" rtlCol="0" anchor="ctr"/>
          <a:lstStyle/>
          <a:p>
            <a:pPr marL="0" indent="0" algn="ctr">
              <a:buNone/>
            </a:pPr>
            <a:r>
              <a:rPr lang="en-US" sz="2200" dirty="0">
                <a:solidFill>
                  <a:srgbClr val="FFFFFF"/>
                </a:solidFill>
              </a:rPr>
              <a:t>✍</a:t>
            </a:r>
            <a:endParaRPr lang="en-US" sz="2200" dirty="0"/>
          </a:p>
        </p:txBody>
      </p:sp>
      <p:sp>
        <p:nvSpPr>
          <p:cNvPr id="11" name="Text 8"/>
          <p:cNvSpPr/>
          <p:nvPr/>
        </p:nvSpPr>
        <p:spPr>
          <a:xfrm>
            <a:off x="1508760" y="1956816"/>
            <a:ext cx="4389120" cy="256032"/>
          </a:xfrm>
          <a:prstGeom prst="rect">
            <a:avLst/>
          </a:prstGeom>
          <a:noFill/>
          <a:ln/>
        </p:spPr>
        <p:txBody>
          <a:bodyPr wrap="square" lIns="0" tIns="0" rIns="0" bIns="0" rtlCol="0" anchor="ctr"/>
          <a:lstStyle/>
          <a:p>
            <a:pPr marL="0" indent="0">
              <a:buNone/>
            </a:pPr>
            <a:r>
              <a:rPr lang="en-US" sz="1650" b="1" dirty="0">
                <a:solidFill>
                  <a:srgbClr val="111827"/>
                </a:solidFill>
              </a:rPr>
              <a:t>Manual tracking</a:t>
            </a:r>
            <a:endParaRPr lang="en-US" sz="1650" dirty="0"/>
          </a:p>
        </p:txBody>
      </p:sp>
      <p:sp>
        <p:nvSpPr>
          <p:cNvPr id="12" name="Text 9"/>
          <p:cNvSpPr/>
          <p:nvPr/>
        </p:nvSpPr>
        <p:spPr>
          <a:xfrm>
            <a:off x="1508760" y="2286000"/>
            <a:ext cx="4526280" cy="411480"/>
          </a:xfrm>
          <a:prstGeom prst="rect">
            <a:avLst/>
          </a:prstGeom>
          <a:noFill/>
          <a:ln/>
        </p:spPr>
        <p:txBody>
          <a:bodyPr wrap="square" lIns="0" tIns="0" rIns="0" bIns="0" rtlCol="0" anchor="ctr">
            <a:normAutofit/>
          </a:bodyPr>
          <a:lstStyle/>
          <a:p>
            <a:pPr marL="0" indent="0">
              <a:buNone/>
            </a:pPr>
            <a:r>
              <a:rPr lang="en-US" sz="1250" dirty="0">
                <a:solidFill>
                  <a:srgbClr val="64748B"/>
                </a:solidFill>
              </a:rPr>
              <a:t>Orders, stock levels, and schedules are difficult to keep updated.</a:t>
            </a:r>
            <a:endParaRPr lang="en-US" sz="1250" dirty="0"/>
          </a:p>
        </p:txBody>
      </p:sp>
      <p:sp>
        <p:nvSpPr>
          <p:cNvPr id="13" name="Text 10"/>
          <p:cNvSpPr/>
          <p:nvPr/>
        </p:nvSpPr>
        <p:spPr>
          <a:xfrm>
            <a:off x="731520" y="2971800"/>
            <a:ext cx="640080" cy="640080"/>
          </a:xfrm>
          <a:prstGeom prst="rect">
            <a:avLst/>
          </a:prstGeom>
          <a:solidFill>
            <a:srgbClr val="1E4A72"/>
          </a:solidFill>
          <a:ln>
            <a:solidFill>
              <a:srgbClr val="1E4A72">
                <a:alpha val="0"/>
              </a:srgbClr>
            </a:solidFill>
          </a:ln>
        </p:spPr>
        <p:txBody>
          <a:bodyPr wrap="square" lIns="0" tIns="0" rIns="0" bIns="0" rtlCol="0" anchor="ctr"/>
          <a:lstStyle/>
          <a:p>
            <a:pPr marL="0" indent="0" algn="ctr">
              <a:buNone/>
            </a:pPr>
            <a:r>
              <a:rPr lang="en-US" sz="2200" dirty="0">
                <a:solidFill>
                  <a:srgbClr val="FFFFFF"/>
                </a:solidFill>
              </a:rPr>
              <a:t>👁</a:t>
            </a:r>
            <a:endParaRPr lang="en-US" sz="2200" dirty="0"/>
          </a:p>
        </p:txBody>
      </p:sp>
      <p:sp>
        <p:nvSpPr>
          <p:cNvPr id="14" name="Text 11"/>
          <p:cNvSpPr/>
          <p:nvPr/>
        </p:nvSpPr>
        <p:spPr>
          <a:xfrm>
            <a:off x="1508760" y="3008376"/>
            <a:ext cx="4389120" cy="256032"/>
          </a:xfrm>
          <a:prstGeom prst="rect">
            <a:avLst/>
          </a:prstGeom>
          <a:noFill/>
          <a:ln/>
        </p:spPr>
        <p:txBody>
          <a:bodyPr wrap="square" lIns="0" tIns="0" rIns="0" bIns="0" rtlCol="0" anchor="ctr"/>
          <a:lstStyle/>
          <a:p>
            <a:pPr marL="0" indent="0">
              <a:buNone/>
            </a:pPr>
            <a:r>
              <a:rPr lang="en-US" sz="1650" b="1" dirty="0">
                <a:solidFill>
                  <a:srgbClr val="111827"/>
                </a:solidFill>
              </a:rPr>
              <a:t>Limited visibility</a:t>
            </a:r>
            <a:endParaRPr lang="en-US" sz="1650" dirty="0"/>
          </a:p>
        </p:txBody>
      </p:sp>
      <p:sp>
        <p:nvSpPr>
          <p:cNvPr id="15" name="Text 12"/>
          <p:cNvSpPr/>
          <p:nvPr/>
        </p:nvSpPr>
        <p:spPr>
          <a:xfrm>
            <a:off x="1508760" y="3337560"/>
            <a:ext cx="4526280" cy="411480"/>
          </a:xfrm>
          <a:prstGeom prst="rect">
            <a:avLst/>
          </a:prstGeom>
          <a:noFill/>
          <a:ln/>
        </p:spPr>
        <p:txBody>
          <a:bodyPr wrap="square" lIns="0" tIns="0" rIns="0" bIns="0" rtlCol="0" anchor="ctr">
            <a:normAutofit/>
          </a:bodyPr>
          <a:lstStyle/>
          <a:p>
            <a:pPr marL="0" indent="0">
              <a:buNone/>
            </a:pPr>
            <a:r>
              <a:rPr lang="en-US" sz="1250" dirty="0">
                <a:solidFill>
                  <a:srgbClr val="64748B"/>
                </a:solidFill>
              </a:rPr>
              <a:t>The owner cannot quickly see sales, inventory, or performance trends.</a:t>
            </a:r>
            <a:endParaRPr lang="en-US" sz="1250" dirty="0"/>
          </a:p>
        </p:txBody>
      </p:sp>
      <p:sp>
        <p:nvSpPr>
          <p:cNvPr id="16" name="Text 13"/>
          <p:cNvSpPr/>
          <p:nvPr/>
        </p:nvSpPr>
        <p:spPr>
          <a:xfrm>
            <a:off x="731520" y="4023360"/>
            <a:ext cx="640080" cy="640080"/>
          </a:xfrm>
          <a:prstGeom prst="rect">
            <a:avLst/>
          </a:prstGeom>
          <a:solidFill>
            <a:srgbClr val="C9823C"/>
          </a:solidFill>
          <a:ln>
            <a:solidFill>
              <a:srgbClr val="C9823C">
                <a:alpha val="0"/>
              </a:srgbClr>
            </a:solidFill>
          </a:ln>
        </p:spPr>
        <p:txBody>
          <a:bodyPr wrap="square" lIns="0" tIns="0" rIns="0" bIns="0" rtlCol="0" anchor="ctr"/>
          <a:lstStyle/>
          <a:p>
            <a:pPr marL="0" indent="0" algn="ctr">
              <a:buNone/>
            </a:pPr>
            <a:r>
              <a:rPr lang="en-US" sz="2200" dirty="0">
                <a:solidFill>
                  <a:srgbClr val="FFFFFF"/>
                </a:solidFill>
              </a:rPr>
              <a:t>⏱</a:t>
            </a:r>
            <a:endParaRPr lang="en-US" sz="2200" dirty="0"/>
          </a:p>
        </p:txBody>
      </p:sp>
      <p:sp>
        <p:nvSpPr>
          <p:cNvPr id="17" name="Text 14"/>
          <p:cNvSpPr/>
          <p:nvPr/>
        </p:nvSpPr>
        <p:spPr>
          <a:xfrm>
            <a:off x="1508760" y="4059936"/>
            <a:ext cx="4389120" cy="256032"/>
          </a:xfrm>
          <a:prstGeom prst="rect">
            <a:avLst/>
          </a:prstGeom>
          <a:noFill/>
          <a:ln/>
        </p:spPr>
        <p:txBody>
          <a:bodyPr wrap="square" lIns="0" tIns="0" rIns="0" bIns="0" rtlCol="0" anchor="ctr"/>
          <a:lstStyle/>
          <a:p>
            <a:pPr marL="0" indent="0">
              <a:buNone/>
            </a:pPr>
            <a:r>
              <a:rPr lang="en-US" sz="1650" b="1" dirty="0">
                <a:solidFill>
                  <a:srgbClr val="111827"/>
                </a:solidFill>
              </a:rPr>
              <a:t>Operational delays</a:t>
            </a:r>
            <a:endParaRPr lang="en-US" sz="1650" dirty="0"/>
          </a:p>
        </p:txBody>
      </p:sp>
      <p:sp>
        <p:nvSpPr>
          <p:cNvPr id="18" name="Text 15"/>
          <p:cNvSpPr/>
          <p:nvPr/>
        </p:nvSpPr>
        <p:spPr>
          <a:xfrm>
            <a:off x="1508760" y="4389120"/>
            <a:ext cx="4526280" cy="411480"/>
          </a:xfrm>
          <a:prstGeom prst="rect">
            <a:avLst/>
          </a:prstGeom>
          <a:noFill/>
          <a:ln/>
        </p:spPr>
        <p:txBody>
          <a:bodyPr wrap="square" lIns="0" tIns="0" rIns="0" bIns="0" rtlCol="0" anchor="ctr">
            <a:normAutofit/>
          </a:bodyPr>
          <a:lstStyle/>
          <a:p>
            <a:pPr marL="0" indent="0">
              <a:buNone/>
            </a:pPr>
            <a:r>
              <a:rPr lang="en-US" sz="1250" dirty="0">
                <a:solidFill>
                  <a:srgbClr val="64748B"/>
                </a:solidFill>
              </a:rPr>
              <a:t>Employees and managers spend extra time checking information manually.</a:t>
            </a:r>
            <a:endParaRPr lang="en-US" sz="1250" dirty="0"/>
          </a:p>
        </p:txBody>
      </p:sp>
      <p:sp>
        <p:nvSpPr>
          <p:cNvPr id="19" name="Text 16"/>
          <p:cNvSpPr/>
          <p:nvPr/>
        </p:nvSpPr>
        <p:spPr>
          <a:xfrm>
            <a:off x="731520" y="5349240"/>
            <a:ext cx="5623560" cy="621792"/>
          </a:xfrm>
          <a:prstGeom prst="rect">
            <a:avLst/>
          </a:prstGeom>
          <a:solidFill>
            <a:srgbClr val="EAF5E1"/>
          </a:solidFill>
          <a:ln w="12700">
            <a:solidFill>
              <a:srgbClr val="6F8F4E"/>
            </a:solidFill>
          </a:ln>
        </p:spPr>
        <p:txBody>
          <a:bodyPr wrap="square" lIns="1397" tIns="1397" rIns="1397" bIns="1397" rtlCol="0" anchor="ctr">
            <a:normAutofit/>
          </a:bodyPr>
          <a:lstStyle/>
          <a:p>
            <a:pPr marL="0" indent="0" algn="ctr">
              <a:buNone/>
            </a:pPr>
            <a:r>
              <a:rPr lang="en-US" sz="1600" b="1" dirty="0">
                <a:solidFill>
                  <a:srgbClr val="4B2E20"/>
                </a:solidFill>
                <a:latin typeface="Aptos" pitchFamily="34" charset="0"/>
                <a:ea typeface="Aptos" pitchFamily="34" charset="-122"/>
                <a:cs typeface="Aptos" pitchFamily="34" charset="-120"/>
              </a:rPr>
              <a:t>Opportunity: build one organized system for orders, inventory, schedules, employees, and reports.</a:t>
            </a:r>
            <a:endParaRPr lang="en-US" sz="1600" dirty="0"/>
          </a:p>
        </p:txBody>
      </p:sp>
      <p:sp>
        <p:nvSpPr>
          <p:cNvPr id="20" name="Text 17"/>
          <p:cNvSpPr/>
          <p:nvPr/>
        </p:nvSpPr>
        <p:spPr>
          <a:xfrm>
            <a:off x="548640" y="6565392"/>
            <a:ext cx="3840480" cy="164592"/>
          </a:xfrm>
          <a:prstGeom prst="rect">
            <a:avLst/>
          </a:prstGeom>
          <a:noFill/>
          <a:ln/>
        </p:spPr>
        <p:txBody>
          <a:bodyPr wrap="square" lIns="0" tIns="0" rIns="0" bIns="0" rtlCol="0" anchor="ctr"/>
          <a:lstStyle/>
          <a:p>
            <a:pPr marL="0" indent="0">
              <a:buNone/>
            </a:pPr>
            <a:r>
              <a:rPr lang="en-US" sz="850" dirty="0">
                <a:solidFill>
                  <a:srgbClr val="8B7765"/>
                </a:solidFill>
              </a:rPr>
              <a:t>RCMS Final Project Presentation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2EA"/>
          </a:solidFill>
          <a:ln w="12700">
            <a:solidFill>
              <a:srgbClr val="F7F2EA">
                <a:alpha val="0"/>
              </a:srgbClr>
            </a:solidFill>
            <a:prstDash val="solid"/>
          </a:ln>
        </p:spPr>
        <p:txBody>
          <a:bodyPr/>
          <a:lstStyle/>
          <a:p>
            <a:endParaRPr lang="en-US"/>
          </a:p>
        </p:txBody>
      </p:sp>
      <p:sp>
        <p:nvSpPr>
          <p:cNvPr id="3" name="Shape 1"/>
          <p:cNvSpPr/>
          <p:nvPr/>
        </p:nvSpPr>
        <p:spPr>
          <a:xfrm>
            <a:off x="0" y="0"/>
            <a:ext cx="12191695" cy="237744"/>
          </a:xfrm>
          <a:prstGeom prst="rect">
            <a:avLst/>
          </a:prstGeom>
          <a:solidFill>
            <a:srgbClr val="4B2E20"/>
          </a:solidFill>
          <a:ln w="12700">
            <a:solidFill>
              <a:srgbClr val="4B2E20">
                <a:alpha val="0"/>
              </a:srgbClr>
            </a:solidFill>
            <a:prstDash val="solid"/>
          </a:ln>
        </p:spPr>
        <p:txBody>
          <a:bodyPr/>
          <a:lstStyle/>
          <a:p>
            <a:endParaRPr lang="en-US"/>
          </a:p>
        </p:txBody>
      </p:sp>
      <p:sp>
        <p:nvSpPr>
          <p:cNvPr id="4" name="Text 2"/>
          <p:cNvSpPr/>
          <p:nvPr/>
        </p:nvSpPr>
        <p:spPr>
          <a:xfrm>
            <a:off x="530352" y="438912"/>
            <a:ext cx="8412480" cy="411480"/>
          </a:xfrm>
          <a:prstGeom prst="rect">
            <a:avLst/>
          </a:prstGeom>
          <a:noFill/>
          <a:ln/>
        </p:spPr>
        <p:txBody>
          <a:bodyPr wrap="square" lIns="0" tIns="0" rIns="0" bIns="0"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System needs: users and key functions</a:t>
            </a:r>
            <a:endParaRPr lang="en-US" sz="2400" dirty="0"/>
          </a:p>
        </p:txBody>
      </p:sp>
      <p:sp>
        <p:nvSpPr>
          <p:cNvPr id="5" name="Text 3"/>
          <p:cNvSpPr/>
          <p:nvPr/>
        </p:nvSpPr>
        <p:spPr>
          <a:xfrm>
            <a:off x="548640" y="932688"/>
            <a:ext cx="8778240" cy="256032"/>
          </a:xfrm>
          <a:prstGeom prst="rect">
            <a:avLst/>
          </a:prstGeom>
          <a:noFill/>
          <a:ln/>
        </p:spPr>
        <p:txBody>
          <a:bodyPr wrap="square" lIns="0" tIns="0" rIns="0" bIns="0" rtlCol="0" anchor="ctr"/>
          <a:lstStyle/>
          <a:p>
            <a:pPr marL="0" indent="0">
              <a:buNone/>
            </a:pPr>
            <a:r>
              <a:rPr lang="en-US" sz="1050" dirty="0">
                <a:solidFill>
                  <a:srgbClr val="64748B"/>
                </a:solidFill>
              </a:rPr>
              <a:t>The system is designed around the work of employees, the store manager, and the owner</a:t>
            </a:r>
            <a:endParaRPr lang="en-US" sz="1050" dirty="0"/>
          </a:p>
        </p:txBody>
      </p:sp>
      <p:sp>
        <p:nvSpPr>
          <p:cNvPr id="6" name="Text 4"/>
          <p:cNvSpPr/>
          <p:nvPr/>
        </p:nvSpPr>
        <p:spPr>
          <a:xfrm>
            <a:off x="10899648" y="502920"/>
            <a:ext cx="685800" cy="310896"/>
          </a:xfrm>
          <a:prstGeom prst="rect">
            <a:avLst/>
          </a:prstGeom>
          <a:noFill/>
          <a:ln/>
        </p:spPr>
        <p:txBody>
          <a:bodyPr wrap="square" lIns="0" tIns="0" rIns="0" bIns="0" rtlCol="0" anchor="ctr"/>
          <a:lstStyle/>
          <a:p>
            <a:pPr marL="0" indent="0" algn="r">
              <a:buNone/>
            </a:pPr>
            <a:r>
              <a:rPr lang="en-US" sz="1200" b="1" dirty="0">
                <a:solidFill>
                  <a:srgbClr val="C9823C"/>
                </a:solidFill>
              </a:rPr>
              <a:t>04</a:t>
            </a:r>
            <a:endParaRPr lang="en-US" sz="1200" dirty="0"/>
          </a:p>
        </p:txBody>
      </p:sp>
      <p:sp>
        <p:nvSpPr>
          <p:cNvPr id="7" name="Shape 5"/>
          <p:cNvSpPr/>
          <p:nvPr/>
        </p:nvSpPr>
        <p:spPr>
          <a:xfrm>
            <a:off x="548640" y="1115568"/>
            <a:ext cx="11064240" cy="0"/>
          </a:xfrm>
          <a:prstGeom prst="line">
            <a:avLst/>
          </a:prstGeom>
          <a:noFill/>
          <a:ln w="12700">
            <a:solidFill>
              <a:srgbClr val="D7C7B6"/>
            </a:solidFill>
            <a:prstDash val="solid"/>
          </a:ln>
        </p:spPr>
        <p:txBody>
          <a:bodyPr/>
          <a:lstStyle/>
          <a:p>
            <a:endParaRPr lang="en-US"/>
          </a:p>
        </p:txBody>
      </p:sp>
      <p:sp>
        <p:nvSpPr>
          <p:cNvPr id="8" name="Text 6"/>
          <p:cNvSpPr/>
          <p:nvPr/>
        </p:nvSpPr>
        <p:spPr>
          <a:xfrm>
            <a:off x="1874520" y="1481328"/>
            <a:ext cx="1005840" cy="1005840"/>
          </a:xfrm>
          <a:prstGeom prst="rect">
            <a:avLst/>
          </a:prstGeom>
          <a:solidFill>
            <a:srgbClr val="1E4A72"/>
          </a:solidFill>
          <a:ln w="12700">
            <a:solidFill>
              <a:srgbClr val="1E4A72"/>
            </a:solidFill>
          </a:ln>
        </p:spPr>
        <p:txBody>
          <a:bodyPr wrap="square" lIns="1397" tIns="1397" rIns="1397" bIns="1397" rtlCol="0" anchor="ctr">
            <a:normAutofit/>
          </a:bodyPr>
          <a:lstStyle/>
          <a:p>
            <a:pPr marL="0" indent="0" algn="ctr">
              <a:buNone/>
            </a:pPr>
            <a:r>
              <a:rPr lang="en-US" sz="3000" b="1" dirty="0">
                <a:solidFill>
                  <a:srgbClr val="FFFFFF"/>
                </a:solidFill>
                <a:latin typeface="Aptos" pitchFamily="34" charset="0"/>
                <a:ea typeface="Aptos" pitchFamily="34" charset="-122"/>
                <a:cs typeface="Aptos" pitchFamily="34" charset="-120"/>
              </a:rPr>
              <a:t>☕</a:t>
            </a:r>
            <a:endParaRPr lang="en-US" sz="3000" dirty="0"/>
          </a:p>
        </p:txBody>
      </p:sp>
      <p:sp>
        <p:nvSpPr>
          <p:cNvPr id="9" name="Text 7"/>
          <p:cNvSpPr/>
          <p:nvPr/>
        </p:nvSpPr>
        <p:spPr>
          <a:xfrm>
            <a:off x="731520" y="2670048"/>
            <a:ext cx="3246120" cy="320040"/>
          </a:xfrm>
          <a:prstGeom prst="rect">
            <a:avLst/>
          </a:prstGeom>
          <a:noFill/>
          <a:ln/>
        </p:spPr>
        <p:txBody>
          <a:bodyPr wrap="square" lIns="0" tIns="0" rIns="0" bIns="0" rtlCol="0" anchor="ctr">
            <a:normAutofit/>
          </a:bodyPr>
          <a:lstStyle/>
          <a:p>
            <a:pPr marL="0" indent="0" algn="ctr">
              <a:buNone/>
            </a:pPr>
            <a:r>
              <a:rPr lang="en-US" sz="1800" b="1" dirty="0">
                <a:solidFill>
                  <a:srgbClr val="111827"/>
                </a:solidFill>
              </a:rPr>
              <a:t>Employees / Baristas</a:t>
            </a:r>
            <a:endParaRPr lang="en-US" sz="1800" dirty="0"/>
          </a:p>
        </p:txBody>
      </p:sp>
      <p:sp>
        <p:nvSpPr>
          <p:cNvPr id="10" name="Text 8"/>
          <p:cNvSpPr/>
          <p:nvPr/>
        </p:nvSpPr>
        <p:spPr>
          <a:xfrm>
            <a:off x="822960" y="3154680"/>
            <a:ext cx="3063240" cy="1234440"/>
          </a:xfrm>
          <a:prstGeom prst="rect">
            <a:avLst/>
          </a:prstGeom>
          <a:noFill/>
          <a:ln/>
        </p:spPr>
        <p:txBody>
          <a:bodyPr wrap="square" lIns="762" tIns="762" rIns="762" bIns="762" rtlCol="0" anchor="t">
            <a:normAutofit/>
          </a:bodyPr>
          <a:lstStyle/>
          <a:p>
            <a:pPr marL="0" indent="0" algn="ctr">
              <a:buNone/>
            </a:pPr>
            <a:r>
              <a:rPr lang="en-US" sz="1320" dirty="0">
                <a:solidFill>
                  <a:srgbClr val="111827"/>
                </a:solidFill>
              </a:rPr>
              <a:t>Take and update orders</a:t>
            </a:r>
            <a:endParaRPr lang="en-US" sz="1320" dirty="0"/>
          </a:p>
          <a:p>
            <a:pPr marL="0" indent="0" algn="ctr">
              <a:buNone/>
            </a:pPr>
            <a:r>
              <a:rPr lang="en-US" sz="1320" dirty="0">
                <a:solidFill>
                  <a:srgbClr val="111827"/>
                </a:solidFill>
              </a:rPr>
              <a:t>View menu and product availability</a:t>
            </a:r>
            <a:endParaRPr lang="en-US" sz="1320" dirty="0"/>
          </a:p>
          <a:p>
            <a:pPr marL="0" indent="0" algn="ctr">
              <a:buNone/>
            </a:pPr>
            <a:r>
              <a:rPr lang="en-US" sz="1320" dirty="0">
                <a:solidFill>
                  <a:srgbClr val="111827"/>
                </a:solidFill>
              </a:rPr>
              <a:t>Check assigned schedule</a:t>
            </a:r>
            <a:endParaRPr lang="en-US" sz="1320" dirty="0"/>
          </a:p>
        </p:txBody>
      </p:sp>
      <p:sp>
        <p:nvSpPr>
          <p:cNvPr id="11" name="Shape 9"/>
          <p:cNvSpPr/>
          <p:nvPr/>
        </p:nvSpPr>
        <p:spPr>
          <a:xfrm>
            <a:off x="2331720" y="4526280"/>
            <a:ext cx="0" cy="411480"/>
          </a:xfrm>
          <a:prstGeom prst="line">
            <a:avLst/>
          </a:prstGeom>
          <a:noFill/>
          <a:ln w="25400">
            <a:solidFill>
              <a:srgbClr val="1E4A72"/>
            </a:solidFill>
            <a:prstDash val="solid"/>
            <a:headEnd type="none"/>
            <a:tailEnd type="triangle"/>
          </a:ln>
        </p:spPr>
        <p:txBody>
          <a:bodyPr/>
          <a:lstStyle/>
          <a:p>
            <a:endParaRPr lang="en-US"/>
          </a:p>
        </p:txBody>
      </p:sp>
      <p:sp>
        <p:nvSpPr>
          <p:cNvPr id="12" name="Text 10"/>
          <p:cNvSpPr/>
          <p:nvPr/>
        </p:nvSpPr>
        <p:spPr>
          <a:xfrm>
            <a:off x="5623560" y="1481328"/>
            <a:ext cx="1005840" cy="1005840"/>
          </a:xfrm>
          <a:prstGeom prst="rect">
            <a:avLst/>
          </a:prstGeom>
          <a:solidFill>
            <a:srgbClr val="6F8F4E"/>
          </a:solidFill>
          <a:ln w="12700">
            <a:solidFill>
              <a:srgbClr val="6F8F4E"/>
            </a:solidFill>
          </a:ln>
        </p:spPr>
        <p:txBody>
          <a:bodyPr wrap="square" lIns="1397" tIns="1397" rIns="1397" bIns="1397" rtlCol="0" anchor="ctr">
            <a:normAutofit/>
          </a:bodyPr>
          <a:lstStyle/>
          <a:p>
            <a:pPr marL="0" indent="0" algn="ctr">
              <a:buNone/>
            </a:pPr>
            <a:r>
              <a:rPr lang="en-US" sz="3000" b="1" dirty="0">
                <a:solidFill>
                  <a:srgbClr val="FFFFFF"/>
                </a:solidFill>
                <a:latin typeface="Aptos" pitchFamily="34" charset="0"/>
                <a:ea typeface="Aptos" pitchFamily="34" charset="-122"/>
                <a:cs typeface="Aptos" pitchFamily="34" charset="-120"/>
              </a:rPr>
              <a:t>🗂</a:t>
            </a:r>
            <a:endParaRPr lang="en-US" sz="3000" dirty="0"/>
          </a:p>
        </p:txBody>
      </p:sp>
      <p:sp>
        <p:nvSpPr>
          <p:cNvPr id="13" name="Text 11"/>
          <p:cNvSpPr/>
          <p:nvPr/>
        </p:nvSpPr>
        <p:spPr>
          <a:xfrm>
            <a:off x="4480560" y="2670048"/>
            <a:ext cx="3246120" cy="320040"/>
          </a:xfrm>
          <a:prstGeom prst="rect">
            <a:avLst/>
          </a:prstGeom>
          <a:noFill/>
          <a:ln/>
        </p:spPr>
        <p:txBody>
          <a:bodyPr wrap="square" lIns="0" tIns="0" rIns="0" bIns="0" rtlCol="0" anchor="ctr">
            <a:normAutofit/>
          </a:bodyPr>
          <a:lstStyle/>
          <a:p>
            <a:pPr marL="0" indent="0" algn="ctr">
              <a:buNone/>
            </a:pPr>
            <a:r>
              <a:rPr lang="en-US" sz="1800" b="1" dirty="0">
                <a:solidFill>
                  <a:srgbClr val="111827"/>
                </a:solidFill>
              </a:rPr>
              <a:t>Store Manager</a:t>
            </a:r>
            <a:endParaRPr lang="en-US" sz="1800" dirty="0"/>
          </a:p>
        </p:txBody>
      </p:sp>
      <p:sp>
        <p:nvSpPr>
          <p:cNvPr id="14" name="Text 12"/>
          <p:cNvSpPr/>
          <p:nvPr/>
        </p:nvSpPr>
        <p:spPr>
          <a:xfrm>
            <a:off x="4572000" y="3154680"/>
            <a:ext cx="3063240" cy="1234440"/>
          </a:xfrm>
          <a:prstGeom prst="rect">
            <a:avLst/>
          </a:prstGeom>
          <a:noFill/>
          <a:ln/>
        </p:spPr>
        <p:txBody>
          <a:bodyPr wrap="square" lIns="762" tIns="762" rIns="762" bIns="762" rtlCol="0" anchor="t">
            <a:normAutofit/>
          </a:bodyPr>
          <a:lstStyle/>
          <a:p>
            <a:pPr marL="0" indent="0" algn="ctr">
              <a:buNone/>
            </a:pPr>
            <a:r>
              <a:rPr lang="en-US" sz="1320" dirty="0">
                <a:solidFill>
                  <a:srgbClr val="111827"/>
                </a:solidFill>
              </a:rPr>
              <a:t>Manage inventory and products</a:t>
            </a:r>
            <a:endParaRPr lang="en-US" sz="1320" dirty="0"/>
          </a:p>
          <a:p>
            <a:pPr marL="0" indent="0" algn="ctr">
              <a:buNone/>
            </a:pPr>
            <a:r>
              <a:rPr lang="en-US" sz="1320" dirty="0">
                <a:solidFill>
                  <a:srgbClr val="111827"/>
                </a:solidFill>
              </a:rPr>
              <a:t>Create employee schedules</a:t>
            </a:r>
            <a:endParaRPr lang="en-US" sz="1320" dirty="0"/>
          </a:p>
          <a:p>
            <a:pPr marL="0" indent="0" algn="ctr">
              <a:buNone/>
            </a:pPr>
            <a:r>
              <a:rPr lang="en-US" sz="1320" dirty="0">
                <a:solidFill>
                  <a:srgbClr val="111827"/>
                </a:solidFill>
              </a:rPr>
              <a:t>Review daily operations</a:t>
            </a:r>
            <a:endParaRPr lang="en-US" sz="1320" dirty="0"/>
          </a:p>
        </p:txBody>
      </p:sp>
      <p:sp>
        <p:nvSpPr>
          <p:cNvPr id="15" name="Shape 13"/>
          <p:cNvSpPr/>
          <p:nvPr/>
        </p:nvSpPr>
        <p:spPr>
          <a:xfrm>
            <a:off x="6080760" y="4526280"/>
            <a:ext cx="0" cy="411480"/>
          </a:xfrm>
          <a:prstGeom prst="line">
            <a:avLst/>
          </a:prstGeom>
          <a:noFill/>
          <a:ln w="25400">
            <a:solidFill>
              <a:srgbClr val="6F8F4E"/>
            </a:solidFill>
            <a:prstDash val="solid"/>
            <a:headEnd type="none"/>
            <a:tailEnd type="triangle"/>
          </a:ln>
        </p:spPr>
        <p:txBody>
          <a:bodyPr/>
          <a:lstStyle/>
          <a:p>
            <a:endParaRPr lang="en-US"/>
          </a:p>
        </p:txBody>
      </p:sp>
      <p:sp>
        <p:nvSpPr>
          <p:cNvPr id="16" name="Text 14"/>
          <p:cNvSpPr/>
          <p:nvPr/>
        </p:nvSpPr>
        <p:spPr>
          <a:xfrm>
            <a:off x="9372600" y="1481328"/>
            <a:ext cx="1005840" cy="1005840"/>
          </a:xfrm>
          <a:prstGeom prst="rect">
            <a:avLst/>
          </a:prstGeom>
          <a:solidFill>
            <a:srgbClr val="C9823C"/>
          </a:solidFill>
          <a:ln w="12700">
            <a:solidFill>
              <a:srgbClr val="C9823C"/>
            </a:solidFill>
          </a:ln>
        </p:spPr>
        <p:txBody>
          <a:bodyPr wrap="square" lIns="1397" tIns="1397" rIns="1397" bIns="1397" rtlCol="0" anchor="ctr">
            <a:normAutofit/>
          </a:bodyPr>
          <a:lstStyle/>
          <a:p>
            <a:pPr marL="0" indent="0" algn="ctr">
              <a:buNone/>
            </a:pPr>
            <a:r>
              <a:rPr lang="en-US" sz="3000" b="1" dirty="0">
                <a:solidFill>
                  <a:srgbClr val="FFFFFF"/>
                </a:solidFill>
                <a:latin typeface="Aptos" pitchFamily="34" charset="0"/>
                <a:ea typeface="Aptos" pitchFamily="34" charset="-122"/>
                <a:cs typeface="Aptos" pitchFamily="34" charset="-120"/>
              </a:rPr>
              <a:t>📈</a:t>
            </a:r>
            <a:endParaRPr lang="en-US" sz="3000" dirty="0"/>
          </a:p>
        </p:txBody>
      </p:sp>
      <p:sp>
        <p:nvSpPr>
          <p:cNvPr id="17" name="Text 15"/>
          <p:cNvSpPr/>
          <p:nvPr/>
        </p:nvSpPr>
        <p:spPr>
          <a:xfrm>
            <a:off x="8229600" y="2670048"/>
            <a:ext cx="3246120" cy="320040"/>
          </a:xfrm>
          <a:prstGeom prst="rect">
            <a:avLst/>
          </a:prstGeom>
          <a:noFill/>
          <a:ln/>
        </p:spPr>
        <p:txBody>
          <a:bodyPr wrap="square" lIns="0" tIns="0" rIns="0" bIns="0" rtlCol="0" anchor="ctr">
            <a:normAutofit/>
          </a:bodyPr>
          <a:lstStyle/>
          <a:p>
            <a:pPr marL="0" indent="0" algn="ctr">
              <a:buNone/>
            </a:pPr>
            <a:r>
              <a:rPr lang="en-US" sz="1800" b="1" dirty="0">
                <a:solidFill>
                  <a:srgbClr val="111827"/>
                </a:solidFill>
              </a:rPr>
              <a:t>Owner</a:t>
            </a:r>
            <a:endParaRPr lang="en-US" sz="1800" dirty="0"/>
          </a:p>
        </p:txBody>
      </p:sp>
      <p:sp>
        <p:nvSpPr>
          <p:cNvPr id="18" name="Text 16"/>
          <p:cNvSpPr/>
          <p:nvPr/>
        </p:nvSpPr>
        <p:spPr>
          <a:xfrm>
            <a:off x="8321040" y="3154680"/>
            <a:ext cx="3063240" cy="1234440"/>
          </a:xfrm>
          <a:prstGeom prst="rect">
            <a:avLst/>
          </a:prstGeom>
          <a:noFill/>
          <a:ln/>
        </p:spPr>
        <p:txBody>
          <a:bodyPr wrap="square" lIns="762" tIns="762" rIns="762" bIns="762" rtlCol="0" anchor="t">
            <a:normAutofit/>
          </a:bodyPr>
          <a:lstStyle/>
          <a:p>
            <a:pPr marL="0" indent="0" algn="ctr">
              <a:buNone/>
            </a:pPr>
            <a:r>
              <a:rPr lang="en-US" sz="1320" dirty="0">
                <a:solidFill>
                  <a:srgbClr val="111827"/>
                </a:solidFill>
              </a:rPr>
              <a:t>Request business reports</a:t>
            </a:r>
            <a:endParaRPr lang="en-US" sz="1320" dirty="0"/>
          </a:p>
          <a:p>
            <a:pPr marL="0" indent="0" algn="ctr">
              <a:buNone/>
            </a:pPr>
            <a:r>
              <a:rPr lang="en-US" sz="1320" dirty="0">
                <a:solidFill>
                  <a:srgbClr val="111827"/>
                </a:solidFill>
              </a:rPr>
              <a:t>View sales and performance</a:t>
            </a:r>
            <a:endParaRPr lang="en-US" sz="1320" dirty="0"/>
          </a:p>
          <a:p>
            <a:pPr marL="0" indent="0" algn="ctr">
              <a:buNone/>
            </a:pPr>
            <a:r>
              <a:rPr lang="en-US" sz="1320" dirty="0">
                <a:solidFill>
                  <a:srgbClr val="111827"/>
                </a:solidFill>
              </a:rPr>
              <a:t>Make strategic decisions</a:t>
            </a:r>
            <a:endParaRPr lang="en-US" sz="1320" dirty="0"/>
          </a:p>
        </p:txBody>
      </p:sp>
      <p:sp>
        <p:nvSpPr>
          <p:cNvPr id="19" name="Shape 17"/>
          <p:cNvSpPr/>
          <p:nvPr/>
        </p:nvSpPr>
        <p:spPr>
          <a:xfrm>
            <a:off x="9829800" y="4526280"/>
            <a:ext cx="0" cy="411480"/>
          </a:xfrm>
          <a:prstGeom prst="line">
            <a:avLst/>
          </a:prstGeom>
          <a:noFill/>
          <a:ln w="25400">
            <a:solidFill>
              <a:srgbClr val="C9823C"/>
            </a:solidFill>
            <a:prstDash val="solid"/>
            <a:headEnd type="none"/>
            <a:tailEnd type="triangle"/>
          </a:ln>
        </p:spPr>
        <p:txBody>
          <a:bodyPr/>
          <a:lstStyle/>
          <a:p>
            <a:endParaRPr lang="en-US"/>
          </a:p>
        </p:txBody>
      </p:sp>
      <p:sp>
        <p:nvSpPr>
          <p:cNvPr id="20" name="Text 18"/>
          <p:cNvSpPr/>
          <p:nvPr/>
        </p:nvSpPr>
        <p:spPr>
          <a:xfrm>
            <a:off x="1463040" y="5239512"/>
            <a:ext cx="9326880" cy="502920"/>
          </a:xfrm>
          <a:prstGeom prst="rect">
            <a:avLst/>
          </a:prstGeom>
          <a:solidFill>
            <a:srgbClr val="FFF8EF"/>
          </a:solidFill>
          <a:ln w="12700">
            <a:solidFill>
              <a:srgbClr val="E9D8C7"/>
            </a:solidFill>
          </a:ln>
        </p:spPr>
        <p:txBody>
          <a:bodyPr wrap="square" lIns="1397" tIns="1397" rIns="1397" bIns="1397" rtlCol="0" anchor="ctr">
            <a:normAutofit/>
          </a:bodyPr>
          <a:lstStyle/>
          <a:p>
            <a:pPr marL="0" indent="0" algn="ctr">
              <a:buNone/>
            </a:pPr>
            <a:r>
              <a:rPr lang="en-US" sz="1600" b="1" dirty="0">
                <a:solidFill>
                  <a:srgbClr val="4B2E20"/>
                </a:solidFill>
                <a:latin typeface="Aptos" pitchFamily="34" charset="0"/>
                <a:ea typeface="Aptos" pitchFamily="34" charset="-122"/>
                <a:cs typeface="Aptos" pitchFamily="34" charset="-120"/>
              </a:rPr>
              <a:t>RCMS connects user actions to a shared database so information stays consistent across the store.</a:t>
            </a:r>
            <a:endParaRPr lang="en-US" sz="1600" dirty="0"/>
          </a:p>
        </p:txBody>
      </p:sp>
      <p:sp>
        <p:nvSpPr>
          <p:cNvPr id="21" name="Text 19"/>
          <p:cNvSpPr/>
          <p:nvPr/>
        </p:nvSpPr>
        <p:spPr>
          <a:xfrm>
            <a:off x="548640" y="6565392"/>
            <a:ext cx="3840480" cy="164592"/>
          </a:xfrm>
          <a:prstGeom prst="rect">
            <a:avLst/>
          </a:prstGeom>
          <a:noFill/>
          <a:ln/>
        </p:spPr>
        <p:txBody>
          <a:bodyPr wrap="square" lIns="0" tIns="0" rIns="0" bIns="0" rtlCol="0" anchor="ctr"/>
          <a:lstStyle/>
          <a:p>
            <a:pPr marL="0" indent="0">
              <a:buNone/>
            </a:pPr>
            <a:r>
              <a:rPr lang="en-US" sz="850" dirty="0">
                <a:solidFill>
                  <a:srgbClr val="8B7765"/>
                </a:solidFill>
              </a:rPr>
              <a:t>RCMS Final Project Presentation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2EA"/>
          </a:solidFill>
          <a:ln w="12700">
            <a:solidFill>
              <a:srgbClr val="F7F2EA">
                <a:alpha val="0"/>
              </a:srgbClr>
            </a:solidFill>
            <a:prstDash val="solid"/>
          </a:ln>
        </p:spPr>
        <p:txBody>
          <a:bodyPr/>
          <a:lstStyle/>
          <a:p>
            <a:endParaRPr lang="en-US"/>
          </a:p>
        </p:txBody>
      </p:sp>
      <p:sp>
        <p:nvSpPr>
          <p:cNvPr id="3" name="Shape 1"/>
          <p:cNvSpPr/>
          <p:nvPr/>
        </p:nvSpPr>
        <p:spPr>
          <a:xfrm>
            <a:off x="0" y="0"/>
            <a:ext cx="12191695" cy="237744"/>
          </a:xfrm>
          <a:prstGeom prst="rect">
            <a:avLst/>
          </a:prstGeom>
          <a:solidFill>
            <a:srgbClr val="4B2E20"/>
          </a:solidFill>
          <a:ln w="12700">
            <a:solidFill>
              <a:srgbClr val="4B2E20">
                <a:alpha val="0"/>
              </a:srgbClr>
            </a:solidFill>
            <a:prstDash val="solid"/>
          </a:ln>
        </p:spPr>
        <p:txBody>
          <a:bodyPr/>
          <a:lstStyle/>
          <a:p>
            <a:endParaRPr lang="en-US"/>
          </a:p>
        </p:txBody>
      </p:sp>
      <p:sp>
        <p:nvSpPr>
          <p:cNvPr id="4" name="Text 2"/>
          <p:cNvSpPr/>
          <p:nvPr/>
        </p:nvSpPr>
        <p:spPr>
          <a:xfrm>
            <a:off x="530352" y="438912"/>
            <a:ext cx="8412480" cy="411480"/>
          </a:xfrm>
          <a:prstGeom prst="rect">
            <a:avLst/>
          </a:prstGeom>
          <a:noFill/>
          <a:ln/>
        </p:spPr>
        <p:txBody>
          <a:bodyPr wrap="square" lIns="0" tIns="0" rIns="0" bIns="0"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System requirements and core functions</a:t>
            </a:r>
            <a:endParaRPr lang="en-US" sz="2400" dirty="0"/>
          </a:p>
        </p:txBody>
      </p:sp>
      <p:sp>
        <p:nvSpPr>
          <p:cNvPr id="5" name="Text 3"/>
          <p:cNvSpPr/>
          <p:nvPr/>
        </p:nvSpPr>
        <p:spPr>
          <a:xfrm>
            <a:off x="548640" y="932688"/>
            <a:ext cx="8778240" cy="256032"/>
          </a:xfrm>
          <a:prstGeom prst="rect">
            <a:avLst/>
          </a:prstGeom>
          <a:noFill/>
          <a:ln/>
        </p:spPr>
        <p:txBody>
          <a:bodyPr wrap="square" lIns="0" tIns="0" rIns="0" bIns="0" rtlCol="0" anchor="ctr"/>
          <a:lstStyle/>
          <a:p>
            <a:pPr marL="0" indent="0">
              <a:buNone/>
            </a:pPr>
            <a:r>
              <a:rPr lang="en-US" sz="1050" dirty="0">
                <a:solidFill>
                  <a:srgbClr val="64748B"/>
                </a:solidFill>
              </a:rPr>
              <a:t>Functional requirements define what RCMS must allow users to do</a:t>
            </a:r>
            <a:endParaRPr lang="en-US" sz="1050" dirty="0"/>
          </a:p>
        </p:txBody>
      </p:sp>
      <p:sp>
        <p:nvSpPr>
          <p:cNvPr id="6" name="Text 4"/>
          <p:cNvSpPr/>
          <p:nvPr/>
        </p:nvSpPr>
        <p:spPr>
          <a:xfrm>
            <a:off x="10899648" y="502920"/>
            <a:ext cx="685800" cy="310896"/>
          </a:xfrm>
          <a:prstGeom prst="rect">
            <a:avLst/>
          </a:prstGeom>
          <a:noFill/>
          <a:ln/>
        </p:spPr>
        <p:txBody>
          <a:bodyPr wrap="square" lIns="0" tIns="0" rIns="0" bIns="0" rtlCol="0" anchor="ctr"/>
          <a:lstStyle/>
          <a:p>
            <a:pPr marL="0" indent="0" algn="r">
              <a:buNone/>
            </a:pPr>
            <a:r>
              <a:rPr lang="en-US" sz="1200" b="1" dirty="0">
                <a:solidFill>
                  <a:srgbClr val="C9823C"/>
                </a:solidFill>
              </a:rPr>
              <a:t>05</a:t>
            </a:r>
            <a:endParaRPr lang="en-US" sz="1200" dirty="0"/>
          </a:p>
        </p:txBody>
      </p:sp>
      <p:sp>
        <p:nvSpPr>
          <p:cNvPr id="7" name="Shape 5"/>
          <p:cNvSpPr/>
          <p:nvPr/>
        </p:nvSpPr>
        <p:spPr>
          <a:xfrm>
            <a:off x="548640" y="1115568"/>
            <a:ext cx="11064240" cy="0"/>
          </a:xfrm>
          <a:prstGeom prst="line">
            <a:avLst/>
          </a:prstGeom>
          <a:noFill/>
          <a:ln w="12700">
            <a:solidFill>
              <a:srgbClr val="D7C7B6"/>
            </a:solidFill>
            <a:prstDash val="solid"/>
          </a:ln>
        </p:spPr>
        <p:txBody>
          <a:bodyPr/>
          <a:lstStyle/>
          <a:p>
            <a:endParaRPr lang="en-US"/>
          </a:p>
        </p:txBody>
      </p:sp>
      <p:sp>
        <p:nvSpPr>
          <p:cNvPr id="8" name="Text 6"/>
          <p:cNvSpPr/>
          <p:nvPr/>
        </p:nvSpPr>
        <p:spPr>
          <a:xfrm>
            <a:off x="777240" y="1417320"/>
            <a:ext cx="4892040" cy="502920"/>
          </a:xfrm>
          <a:prstGeom prst="rect">
            <a:avLst/>
          </a:prstGeom>
          <a:solidFill>
            <a:srgbClr val="6F8F4E"/>
          </a:solidFill>
          <a:ln w="12700">
            <a:solidFill>
              <a:srgbClr val="6F8F4E"/>
            </a:solidFill>
          </a:ln>
        </p:spPr>
        <p:txBody>
          <a:bodyPr wrap="square" lIns="1397" tIns="1397" rIns="1397" bIns="1397"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Manage Orders</a:t>
            </a:r>
            <a:endParaRPr lang="en-US" sz="1800" dirty="0"/>
          </a:p>
        </p:txBody>
      </p:sp>
      <p:sp>
        <p:nvSpPr>
          <p:cNvPr id="9" name="Text 7"/>
          <p:cNvSpPr/>
          <p:nvPr/>
        </p:nvSpPr>
        <p:spPr>
          <a:xfrm>
            <a:off x="1005840" y="2167128"/>
            <a:ext cx="4434840" cy="713232"/>
          </a:xfrm>
          <a:prstGeom prst="rect">
            <a:avLst/>
          </a:prstGeom>
          <a:noFill/>
          <a:ln/>
        </p:spPr>
        <p:txBody>
          <a:bodyPr wrap="square" lIns="508" tIns="508" rIns="508" bIns="508" rtlCol="0" anchor="ctr">
            <a:normAutofit/>
          </a:bodyPr>
          <a:lstStyle/>
          <a:p>
            <a:pPr marL="0" indent="0" algn="ctr">
              <a:buNone/>
            </a:pPr>
            <a:r>
              <a:rPr lang="en-US" sz="1400" dirty="0">
                <a:solidFill>
                  <a:srgbClr val="111827"/>
                </a:solidFill>
              </a:rPr>
              <a:t>Create orders, add items, calculate totals, update order status, and store order history.</a:t>
            </a:r>
            <a:endParaRPr lang="en-US" sz="1400" dirty="0"/>
          </a:p>
        </p:txBody>
      </p:sp>
      <p:sp>
        <p:nvSpPr>
          <p:cNvPr id="10" name="Text 8"/>
          <p:cNvSpPr/>
          <p:nvPr/>
        </p:nvSpPr>
        <p:spPr>
          <a:xfrm>
            <a:off x="6263640" y="1417320"/>
            <a:ext cx="4892040" cy="502920"/>
          </a:xfrm>
          <a:prstGeom prst="rect">
            <a:avLst/>
          </a:prstGeom>
          <a:solidFill>
            <a:srgbClr val="1E4A72"/>
          </a:solidFill>
          <a:ln w="12700">
            <a:solidFill>
              <a:srgbClr val="1E4A72"/>
            </a:solidFill>
          </a:ln>
        </p:spPr>
        <p:txBody>
          <a:bodyPr wrap="square" lIns="1397" tIns="1397" rIns="1397" bIns="1397"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Manage Inventory</a:t>
            </a:r>
            <a:endParaRPr lang="en-US" sz="1800" dirty="0"/>
          </a:p>
        </p:txBody>
      </p:sp>
      <p:sp>
        <p:nvSpPr>
          <p:cNvPr id="11" name="Text 9"/>
          <p:cNvSpPr/>
          <p:nvPr/>
        </p:nvSpPr>
        <p:spPr>
          <a:xfrm>
            <a:off x="6492240" y="2167128"/>
            <a:ext cx="4434840" cy="713232"/>
          </a:xfrm>
          <a:prstGeom prst="rect">
            <a:avLst/>
          </a:prstGeom>
          <a:noFill/>
          <a:ln/>
        </p:spPr>
        <p:txBody>
          <a:bodyPr wrap="square" lIns="508" tIns="508" rIns="508" bIns="508" rtlCol="0" anchor="ctr">
            <a:normAutofit/>
          </a:bodyPr>
          <a:lstStyle/>
          <a:p>
            <a:pPr marL="0" indent="0" algn="ctr">
              <a:buNone/>
            </a:pPr>
            <a:r>
              <a:rPr lang="en-US" sz="1400" dirty="0">
                <a:solidFill>
                  <a:srgbClr val="111827"/>
                </a:solidFill>
              </a:rPr>
              <a:t>Add products, update stock levels, track prices, and flag low-stock items.</a:t>
            </a:r>
            <a:endParaRPr lang="en-US" sz="1400" dirty="0"/>
          </a:p>
        </p:txBody>
      </p:sp>
      <p:sp>
        <p:nvSpPr>
          <p:cNvPr id="12" name="Text 10"/>
          <p:cNvSpPr/>
          <p:nvPr/>
        </p:nvSpPr>
        <p:spPr>
          <a:xfrm>
            <a:off x="777240" y="3429000"/>
            <a:ext cx="4892040" cy="502920"/>
          </a:xfrm>
          <a:prstGeom prst="rect">
            <a:avLst/>
          </a:prstGeom>
          <a:solidFill>
            <a:srgbClr val="6F8F4E"/>
          </a:solidFill>
          <a:ln w="12700">
            <a:solidFill>
              <a:srgbClr val="6F8F4E"/>
            </a:solidFill>
          </a:ln>
        </p:spPr>
        <p:txBody>
          <a:bodyPr wrap="square" lIns="1397" tIns="1397" rIns="1397" bIns="1397"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Manage Schedule</a:t>
            </a:r>
            <a:endParaRPr lang="en-US" sz="1800" dirty="0"/>
          </a:p>
        </p:txBody>
      </p:sp>
      <p:sp>
        <p:nvSpPr>
          <p:cNvPr id="13" name="Text 11"/>
          <p:cNvSpPr/>
          <p:nvPr/>
        </p:nvSpPr>
        <p:spPr>
          <a:xfrm>
            <a:off x="1005840" y="4178808"/>
            <a:ext cx="4434840" cy="713232"/>
          </a:xfrm>
          <a:prstGeom prst="rect">
            <a:avLst/>
          </a:prstGeom>
          <a:noFill/>
          <a:ln/>
        </p:spPr>
        <p:txBody>
          <a:bodyPr wrap="square" lIns="508" tIns="508" rIns="508" bIns="508" rtlCol="0" anchor="ctr">
            <a:normAutofit/>
          </a:bodyPr>
          <a:lstStyle/>
          <a:p>
            <a:pPr marL="0" indent="0" algn="ctr">
              <a:buNone/>
            </a:pPr>
            <a:r>
              <a:rPr lang="en-US" sz="1400" dirty="0">
                <a:solidFill>
                  <a:srgbClr val="111827"/>
                </a:solidFill>
              </a:rPr>
              <a:t>Create shifts, assign employees, and allow staff to view work schedules.</a:t>
            </a:r>
            <a:endParaRPr lang="en-US" sz="1400" dirty="0"/>
          </a:p>
        </p:txBody>
      </p:sp>
      <p:sp>
        <p:nvSpPr>
          <p:cNvPr id="14" name="Text 12"/>
          <p:cNvSpPr/>
          <p:nvPr/>
        </p:nvSpPr>
        <p:spPr>
          <a:xfrm>
            <a:off x="6263640" y="3429000"/>
            <a:ext cx="4892040" cy="502920"/>
          </a:xfrm>
          <a:prstGeom prst="rect">
            <a:avLst/>
          </a:prstGeom>
          <a:solidFill>
            <a:srgbClr val="1E4A72"/>
          </a:solidFill>
          <a:ln w="12700">
            <a:solidFill>
              <a:srgbClr val="1E4A72"/>
            </a:solidFill>
          </a:ln>
        </p:spPr>
        <p:txBody>
          <a:bodyPr wrap="square" lIns="1397" tIns="1397" rIns="1397" bIns="1397"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Generate Reports</a:t>
            </a:r>
            <a:endParaRPr lang="en-US" sz="1800" dirty="0"/>
          </a:p>
        </p:txBody>
      </p:sp>
      <p:sp>
        <p:nvSpPr>
          <p:cNvPr id="15" name="Text 13"/>
          <p:cNvSpPr/>
          <p:nvPr/>
        </p:nvSpPr>
        <p:spPr>
          <a:xfrm>
            <a:off x="6492240" y="4178808"/>
            <a:ext cx="4434840" cy="713232"/>
          </a:xfrm>
          <a:prstGeom prst="rect">
            <a:avLst/>
          </a:prstGeom>
          <a:noFill/>
          <a:ln/>
        </p:spPr>
        <p:txBody>
          <a:bodyPr wrap="square" lIns="508" tIns="508" rIns="508" bIns="508" rtlCol="0" anchor="ctr">
            <a:normAutofit/>
          </a:bodyPr>
          <a:lstStyle/>
          <a:p>
            <a:pPr marL="0" indent="0" algn="ctr">
              <a:buNone/>
            </a:pPr>
            <a:r>
              <a:rPr lang="en-US" sz="1400" dirty="0">
                <a:solidFill>
                  <a:srgbClr val="111827"/>
                </a:solidFill>
              </a:rPr>
              <a:t>Produce sales, inventory, employee, and performance reports for the owner.</a:t>
            </a:r>
            <a:endParaRPr lang="en-US" sz="1400" dirty="0"/>
          </a:p>
        </p:txBody>
      </p:sp>
      <p:sp>
        <p:nvSpPr>
          <p:cNvPr id="16" name="Shape 14"/>
          <p:cNvSpPr/>
          <p:nvPr/>
        </p:nvSpPr>
        <p:spPr>
          <a:xfrm>
            <a:off x="6089904" y="1335024"/>
            <a:ext cx="0" cy="4389120"/>
          </a:xfrm>
          <a:prstGeom prst="line">
            <a:avLst/>
          </a:prstGeom>
          <a:noFill/>
          <a:ln w="15240">
            <a:solidFill>
              <a:srgbClr val="D7C7B6"/>
            </a:solidFill>
            <a:prstDash val="solid"/>
          </a:ln>
        </p:spPr>
        <p:txBody>
          <a:bodyPr/>
          <a:lstStyle/>
          <a:p>
            <a:endParaRPr lang="en-US"/>
          </a:p>
        </p:txBody>
      </p:sp>
      <p:sp>
        <p:nvSpPr>
          <p:cNvPr id="17" name="Text 15"/>
          <p:cNvSpPr/>
          <p:nvPr/>
        </p:nvSpPr>
        <p:spPr>
          <a:xfrm>
            <a:off x="1188720" y="5806440"/>
            <a:ext cx="9829800" cy="411480"/>
          </a:xfrm>
          <a:prstGeom prst="rect">
            <a:avLst/>
          </a:prstGeom>
          <a:solidFill>
            <a:srgbClr val="EAF2FA"/>
          </a:solidFill>
          <a:ln w="12700">
            <a:solidFill>
              <a:srgbClr val="BBD2E6"/>
            </a:solidFill>
          </a:ln>
        </p:spPr>
        <p:txBody>
          <a:bodyPr wrap="square" lIns="1397" tIns="1397" rIns="1397" bIns="1397" rtlCol="0" anchor="ctr">
            <a:normAutofit/>
          </a:bodyPr>
          <a:lstStyle/>
          <a:p>
            <a:pPr marL="0" indent="0" algn="ctr">
              <a:buNone/>
            </a:pPr>
            <a:r>
              <a:rPr lang="en-US" sz="1500" b="1" dirty="0">
                <a:solidFill>
                  <a:srgbClr val="1E4A72"/>
                </a:solidFill>
                <a:latin typeface="Aptos" pitchFamily="34" charset="0"/>
                <a:ea typeface="Aptos" pitchFamily="34" charset="-122"/>
                <a:cs typeface="Aptos" pitchFamily="34" charset="-120"/>
              </a:rPr>
              <a:t>Additional requirement: role-based access for employees, managers, and the owner.</a:t>
            </a:r>
            <a:endParaRPr lang="en-US" sz="1500" dirty="0"/>
          </a:p>
        </p:txBody>
      </p:sp>
      <p:sp>
        <p:nvSpPr>
          <p:cNvPr id="18" name="Text 16"/>
          <p:cNvSpPr/>
          <p:nvPr/>
        </p:nvSpPr>
        <p:spPr>
          <a:xfrm>
            <a:off x="548640" y="6565392"/>
            <a:ext cx="3840480" cy="164592"/>
          </a:xfrm>
          <a:prstGeom prst="rect">
            <a:avLst/>
          </a:prstGeom>
          <a:noFill/>
          <a:ln/>
        </p:spPr>
        <p:txBody>
          <a:bodyPr wrap="square" lIns="0" tIns="0" rIns="0" bIns="0" rtlCol="0" anchor="ctr"/>
          <a:lstStyle/>
          <a:p>
            <a:pPr marL="0" indent="0">
              <a:buNone/>
            </a:pPr>
            <a:r>
              <a:rPr lang="en-US" sz="850" dirty="0">
                <a:solidFill>
                  <a:srgbClr val="8B7765"/>
                </a:solidFill>
              </a:rPr>
              <a:t>RCMS Final Project Presentation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2EA"/>
          </a:solidFill>
          <a:ln w="12700">
            <a:solidFill>
              <a:srgbClr val="F7F2EA">
                <a:alpha val="0"/>
              </a:srgbClr>
            </a:solidFill>
            <a:prstDash val="solid"/>
          </a:ln>
        </p:spPr>
        <p:txBody>
          <a:bodyPr/>
          <a:lstStyle/>
          <a:p>
            <a:endParaRPr lang="en-US"/>
          </a:p>
        </p:txBody>
      </p:sp>
      <p:sp>
        <p:nvSpPr>
          <p:cNvPr id="3" name="Shape 1"/>
          <p:cNvSpPr/>
          <p:nvPr/>
        </p:nvSpPr>
        <p:spPr>
          <a:xfrm>
            <a:off x="0" y="0"/>
            <a:ext cx="12191695" cy="237744"/>
          </a:xfrm>
          <a:prstGeom prst="rect">
            <a:avLst/>
          </a:prstGeom>
          <a:solidFill>
            <a:srgbClr val="4B2E20"/>
          </a:solidFill>
          <a:ln w="12700">
            <a:solidFill>
              <a:srgbClr val="4B2E20">
                <a:alpha val="0"/>
              </a:srgbClr>
            </a:solidFill>
            <a:prstDash val="solid"/>
          </a:ln>
        </p:spPr>
        <p:txBody>
          <a:bodyPr/>
          <a:lstStyle/>
          <a:p>
            <a:endParaRPr lang="en-US"/>
          </a:p>
        </p:txBody>
      </p:sp>
      <p:sp>
        <p:nvSpPr>
          <p:cNvPr id="4" name="Text 2"/>
          <p:cNvSpPr/>
          <p:nvPr/>
        </p:nvSpPr>
        <p:spPr>
          <a:xfrm>
            <a:off x="530352" y="438912"/>
            <a:ext cx="8412480" cy="411480"/>
          </a:xfrm>
          <a:prstGeom prst="rect">
            <a:avLst/>
          </a:prstGeom>
          <a:noFill/>
          <a:ln/>
        </p:spPr>
        <p:txBody>
          <a:bodyPr wrap="square" lIns="0" tIns="0" rIns="0" bIns="0"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Non-functional requirements and special system features</a:t>
            </a:r>
            <a:endParaRPr lang="en-US" sz="2400" dirty="0"/>
          </a:p>
        </p:txBody>
      </p:sp>
      <p:sp>
        <p:nvSpPr>
          <p:cNvPr id="5" name="Text 3"/>
          <p:cNvSpPr/>
          <p:nvPr/>
        </p:nvSpPr>
        <p:spPr>
          <a:xfrm>
            <a:off x="548640" y="932688"/>
            <a:ext cx="8778240" cy="256032"/>
          </a:xfrm>
          <a:prstGeom prst="rect">
            <a:avLst/>
          </a:prstGeom>
          <a:noFill/>
          <a:ln/>
        </p:spPr>
        <p:txBody>
          <a:bodyPr wrap="square" lIns="0" tIns="0" rIns="0" bIns="0" rtlCol="0" anchor="ctr"/>
          <a:lstStyle/>
          <a:p>
            <a:pPr marL="0" indent="0">
              <a:buNone/>
            </a:pPr>
            <a:r>
              <a:rPr lang="en-US" sz="1050" dirty="0">
                <a:solidFill>
                  <a:srgbClr val="64748B"/>
                </a:solidFill>
              </a:rPr>
              <a:t>These requirements describe the quality, security, and usability of the solution</a:t>
            </a:r>
            <a:endParaRPr lang="en-US" sz="1050" dirty="0"/>
          </a:p>
        </p:txBody>
      </p:sp>
      <p:sp>
        <p:nvSpPr>
          <p:cNvPr id="6" name="Text 4"/>
          <p:cNvSpPr/>
          <p:nvPr/>
        </p:nvSpPr>
        <p:spPr>
          <a:xfrm>
            <a:off x="10899648" y="502920"/>
            <a:ext cx="685800" cy="310896"/>
          </a:xfrm>
          <a:prstGeom prst="rect">
            <a:avLst/>
          </a:prstGeom>
          <a:noFill/>
          <a:ln/>
        </p:spPr>
        <p:txBody>
          <a:bodyPr wrap="square" lIns="0" tIns="0" rIns="0" bIns="0" rtlCol="0" anchor="ctr"/>
          <a:lstStyle/>
          <a:p>
            <a:pPr marL="0" indent="0" algn="r">
              <a:buNone/>
            </a:pPr>
            <a:r>
              <a:rPr lang="en-US" sz="1200" b="1" dirty="0">
                <a:solidFill>
                  <a:srgbClr val="C9823C"/>
                </a:solidFill>
              </a:rPr>
              <a:t>06</a:t>
            </a:r>
            <a:endParaRPr lang="en-US" sz="1200" dirty="0"/>
          </a:p>
        </p:txBody>
      </p:sp>
      <p:sp>
        <p:nvSpPr>
          <p:cNvPr id="7" name="Shape 5"/>
          <p:cNvSpPr/>
          <p:nvPr/>
        </p:nvSpPr>
        <p:spPr>
          <a:xfrm>
            <a:off x="548640" y="1115568"/>
            <a:ext cx="11064240" cy="0"/>
          </a:xfrm>
          <a:prstGeom prst="line">
            <a:avLst/>
          </a:prstGeom>
          <a:noFill/>
          <a:ln w="12700">
            <a:solidFill>
              <a:srgbClr val="D7C7B6"/>
            </a:solidFill>
            <a:prstDash val="solid"/>
          </a:ln>
        </p:spPr>
        <p:txBody>
          <a:bodyPr/>
          <a:lstStyle/>
          <a:p>
            <a:endParaRPr lang="en-US"/>
          </a:p>
        </p:txBody>
      </p:sp>
      <p:sp>
        <p:nvSpPr>
          <p:cNvPr id="8" name="Text 6"/>
          <p:cNvSpPr/>
          <p:nvPr/>
        </p:nvSpPr>
        <p:spPr>
          <a:xfrm>
            <a:off x="731520" y="1371600"/>
            <a:ext cx="1508760" cy="384048"/>
          </a:xfrm>
          <a:prstGeom prst="rect">
            <a:avLst/>
          </a:prstGeom>
          <a:solidFill>
            <a:srgbClr val="6F8F4E"/>
          </a:solidFill>
          <a:ln>
            <a:solidFill>
              <a:srgbClr val="6F8F4E">
                <a:alpha val="0"/>
              </a:srgbClr>
            </a:solidFill>
          </a:ln>
        </p:spPr>
        <p:txBody>
          <a:bodyPr wrap="square" lIns="762" tIns="762" rIns="762" bIns="762" rtlCol="0" anchor="ctr">
            <a:normAutofit/>
          </a:bodyPr>
          <a:lstStyle/>
          <a:p>
            <a:pPr marL="0" indent="0" algn="ctr">
              <a:buNone/>
            </a:pPr>
            <a:r>
              <a:rPr lang="en-US" sz="1250" b="1" dirty="0">
                <a:solidFill>
                  <a:srgbClr val="FFFFFF"/>
                </a:solidFill>
              </a:rPr>
              <a:t>Usability</a:t>
            </a:r>
            <a:endParaRPr lang="en-US" sz="1250" dirty="0"/>
          </a:p>
        </p:txBody>
      </p:sp>
      <p:sp>
        <p:nvSpPr>
          <p:cNvPr id="9" name="Text 7"/>
          <p:cNvSpPr/>
          <p:nvPr/>
        </p:nvSpPr>
        <p:spPr>
          <a:xfrm>
            <a:off x="2468880" y="1353312"/>
            <a:ext cx="3520440" cy="530352"/>
          </a:xfrm>
          <a:prstGeom prst="rect">
            <a:avLst/>
          </a:prstGeom>
          <a:noFill/>
          <a:ln/>
        </p:spPr>
        <p:txBody>
          <a:bodyPr wrap="square" lIns="381" tIns="381" rIns="381" bIns="381" rtlCol="0" anchor="ctr">
            <a:normAutofit/>
          </a:bodyPr>
          <a:lstStyle/>
          <a:p>
            <a:pPr marL="0" indent="0">
              <a:buNone/>
            </a:pPr>
            <a:r>
              <a:rPr lang="en-US" sz="1250" dirty="0">
                <a:solidFill>
                  <a:srgbClr val="111827"/>
                </a:solidFill>
              </a:rPr>
              <a:t>Simple forms, clear labels, minimal training for daily users.</a:t>
            </a:r>
            <a:endParaRPr lang="en-US" sz="1250" dirty="0"/>
          </a:p>
        </p:txBody>
      </p:sp>
      <p:sp>
        <p:nvSpPr>
          <p:cNvPr id="10" name="Text 8"/>
          <p:cNvSpPr/>
          <p:nvPr/>
        </p:nvSpPr>
        <p:spPr>
          <a:xfrm>
            <a:off x="6309360" y="1371600"/>
            <a:ext cx="1508760" cy="384048"/>
          </a:xfrm>
          <a:prstGeom prst="rect">
            <a:avLst/>
          </a:prstGeom>
          <a:solidFill>
            <a:srgbClr val="1E4A72"/>
          </a:solidFill>
          <a:ln>
            <a:solidFill>
              <a:srgbClr val="1E4A72">
                <a:alpha val="0"/>
              </a:srgbClr>
            </a:solidFill>
          </a:ln>
        </p:spPr>
        <p:txBody>
          <a:bodyPr wrap="square" lIns="762" tIns="762" rIns="762" bIns="762" rtlCol="0" anchor="ctr">
            <a:normAutofit/>
          </a:bodyPr>
          <a:lstStyle/>
          <a:p>
            <a:pPr marL="0" indent="0" algn="ctr">
              <a:buNone/>
            </a:pPr>
            <a:r>
              <a:rPr lang="en-US" sz="1250" b="1" dirty="0">
                <a:solidFill>
                  <a:srgbClr val="FFFFFF"/>
                </a:solidFill>
              </a:rPr>
              <a:t>Reliability</a:t>
            </a:r>
            <a:endParaRPr lang="en-US" sz="1250" dirty="0"/>
          </a:p>
        </p:txBody>
      </p:sp>
      <p:sp>
        <p:nvSpPr>
          <p:cNvPr id="11" name="Text 9"/>
          <p:cNvSpPr/>
          <p:nvPr/>
        </p:nvSpPr>
        <p:spPr>
          <a:xfrm>
            <a:off x="8046720" y="1353312"/>
            <a:ext cx="3520440" cy="530352"/>
          </a:xfrm>
          <a:prstGeom prst="rect">
            <a:avLst/>
          </a:prstGeom>
          <a:noFill/>
          <a:ln/>
        </p:spPr>
        <p:txBody>
          <a:bodyPr wrap="square" lIns="381" tIns="381" rIns="381" bIns="381" rtlCol="0" anchor="ctr">
            <a:normAutofit/>
          </a:bodyPr>
          <a:lstStyle/>
          <a:p>
            <a:pPr marL="0" indent="0">
              <a:buNone/>
            </a:pPr>
            <a:r>
              <a:rPr lang="en-US" sz="1250" dirty="0">
                <a:solidFill>
                  <a:srgbClr val="111827"/>
                </a:solidFill>
              </a:rPr>
              <a:t>Consistent data entry, validation rules, and regular backups.</a:t>
            </a:r>
            <a:endParaRPr lang="en-US" sz="1250" dirty="0"/>
          </a:p>
        </p:txBody>
      </p:sp>
      <p:sp>
        <p:nvSpPr>
          <p:cNvPr id="12" name="Text 10"/>
          <p:cNvSpPr/>
          <p:nvPr/>
        </p:nvSpPr>
        <p:spPr>
          <a:xfrm>
            <a:off x="731520" y="2834640"/>
            <a:ext cx="1508760" cy="384048"/>
          </a:xfrm>
          <a:prstGeom prst="rect">
            <a:avLst/>
          </a:prstGeom>
          <a:solidFill>
            <a:srgbClr val="C9823C"/>
          </a:solidFill>
          <a:ln>
            <a:solidFill>
              <a:srgbClr val="C9823C">
                <a:alpha val="0"/>
              </a:srgbClr>
            </a:solidFill>
          </a:ln>
        </p:spPr>
        <p:txBody>
          <a:bodyPr wrap="square" lIns="762" tIns="762" rIns="762" bIns="762" rtlCol="0" anchor="ctr">
            <a:normAutofit/>
          </a:bodyPr>
          <a:lstStyle/>
          <a:p>
            <a:pPr marL="0" indent="0" algn="ctr">
              <a:buNone/>
            </a:pPr>
            <a:r>
              <a:rPr lang="en-US" sz="1250" b="1" dirty="0">
                <a:solidFill>
                  <a:srgbClr val="FFFFFF"/>
                </a:solidFill>
              </a:rPr>
              <a:t>Security</a:t>
            </a:r>
            <a:endParaRPr lang="en-US" sz="1250" dirty="0"/>
          </a:p>
        </p:txBody>
      </p:sp>
      <p:sp>
        <p:nvSpPr>
          <p:cNvPr id="13" name="Text 11"/>
          <p:cNvSpPr/>
          <p:nvPr/>
        </p:nvSpPr>
        <p:spPr>
          <a:xfrm>
            <a:off x="2468880" y="2816352"/>
            <a:ext cx="3520440" cy="530352"/>
          </a:xfrm>
          <a:prstGeom prst="rect">
            <a:avLst/>
          </a:prstGeom>
          <a:noFill/>
          <a:ln/>
        </p:spPr>
        <p:txBody>
          <a:bodyPr wrap="square" lIns="381" tIns="381" rIns="381" bIns="381" rtlCol="0" anchor="ctr">
            <a:normAutofit/>
          </a:bodyPr>
          <a:lstStyle/>
          <a:p>
            <a:pPr marL="0" indent="0">
              <a:buNone/>
            </a:pPr>
            <a:r>
              <a:rPr lang="en-US" sz="1250" dirty="0">
                <a:solidFill>
                  <a:srgbClr val="111827"/>
                </a:solidFill>
              </a:rPr>
              <a:t>Login screen, user roles, and restricted owner reports.</a:t>
            </a:r>
            <a:endParaRPr lang="en-US" sz="1250" dirty="0"/>
          </a:p>
        </p:txBody>
      </p:sp>
      <p:sp>
        <p:nvSpPr>
          <p:cNvPr id="14" name="Text 12"/>
          <p:cNvSpPr/>
          <p:nvPr/>
        </p:nvSpPr>
        <p:spPr>
          <a:xfrm>
            <a:off x="6309360" y="2834640"/>
            <a:ext cx="1508760" cy="384048"/>
          </a:xfrm>
          <a:prstGeom prst="rect">
            <a:avLst/>
          </a:prstGeom>
          <a:solidFill>
            <a:srgbClr val="4B2E20"/>
          </a:solidFill>
          <a:ln>
            <a:solidFill>
              <a:srgbClr val="4B2E20">
                <a:alpha val="0"/>
              </a:srgbClr>
            </a:solidFill>
          </a:ln>
        </p:spPr>
        <p:txBody>
          <a:bodyPr wrap="square" lIns="762" tIns="762" rIns="762" bIns="762" rtlCol="0" anchor="ctr">
            <a:normAutofit/>
          </a:bodyPr>
          <a:lstStyle/>
          <a:p>
            <a:pPr marL="0" indent="0" algn="ctr">
              <a:buNone/>
            </a:pPr>
            <a:r>
              <a:rPr lang="en-US" sz="1250" b="1" dirty="0">
                <a:solidFill>
                  <a:srgbClr val="FFFFFF"/>
                </a:solidFill>
              </a:rPr>
              <a:t>Performance</a:t>
            </a:r>
            <a:endParaRPr lang="en-US" sz="1250" dirty="0"/>
          </a:p>
        </p:txBody>
      </p:sp>
      <p:sp>
        <p:nvSpPr>
          <p:cNvPr id="15" name="Text 13"/>
          <p:cNvSpPr/>
          <p:nvPr/>
        </p:nvSpPr>
        <p:spPr>
          <a:xfrm>
            <a:off x="8046720" y="2816352"/>
            <a:ext cx="3520440" cy="530352"/>
          </a:xfrm>
          <a:prstGeom prst="rect">
            <a:avLst/>
          </a:prstGeom>
          <a:noFill/>
          <a:ln/>
        </p:spPr>
        <p:txBody>
          <a:bodyPr wrap="square" lIns="381" tIns="381" rIns="381" bIns="381" rtlCol="0" anchor="ctr">
            <a:normAutofit/>
          </a:bodyPr>
          <a:lstStyle/>
          <a:p>
            <a:pPr marL="0" indent="0">
              <a:buNone/>
            </a:pPr>
            <a:r>
              <a:rPr lang="en-US" sz="1250" dirty="0">
                <a:solidFill>
                  <a:srgbClr val="111827"/>
                </a:solidFill>
              </a:rPr>
              <a:t>Fast form loading and quick report generation for daily use.</a:t>
            </a:r>
            <a:endParaRPr lang="en-US" sz="1250" dirty="0"/>
          </a:p>
        </p:txBody>
      </p:sp>
      <p:sp>
        <p:nvSpPr>
          <p:cNvPr id="16" name="Text 14"/>
          <p:cNvSpPr/>
          <p:nvPr/>
        </p:nvSpPr>
        <p:spPr>
          <a:xfrm>
            <a:off x="731520" y="4480560"/>
            <a:ext cx="2743200" cy="320040"/>
          </a:xfrm>
          <a:prstGeom prst="rect">
            <a:avLst/>
          </a:prstGeom>
          <a:noFill/>
          <a:ln/>
        </p:spPr>
        <p:txBody>
          <a:bodyPr wrap="square" lIns="0" tIns="0" rIns="0" bIns="0" rtlCol="0" anchor="ctr"/>
          <a:lstStyle/>
          <a:p>
            <a:pPr marL="0" indent="0">
              <a:buNone/>
            </a:pPr>
            <a:r>
              <a:rPr lang="en-US" sz="2200" b="1" dirty="0">
                <a:solidFill>
                  <a:srgbClr val="4B2E20"/>
                </a:solidFill>
              </a:rPr>
              <a:t>Special features</a:t>
            </a:r>
            <a:endParaRPr lang="en-US" sz="2200" dirty="0"/>
          </a:p>
        </p:txBody>
      </p:sp>
      <p:sp>
        <p:nvSpPr>
          <p:cNvPr id="17" name="Text 15"/>
          <p:cNvSpPr/>
          <p:nvPr/>
        </p:nvSpPr>
        <p:spPr>
          <a:xfrm>
            <a:off x="868680" y="5074920"/>
            <a:ext cx="2212848" cy="594360"/>
          </a:xfrm>
          <a:prstGeom prst="rect">
            <a:avLst/>
          </a:prstGeom>
          <a:solidFill>
            <a:srgbClr val="EAF5E1"/>
          </a:solidFill>
          <a:ln w="12700">
            <a:solidFill>
              <a:srgbClr val="6F8F4E"/>
            </a:solidFill>
          </a:ln>
        </p:spPr>
        <p:txBody>
          <a:bodyPr wrap="square" lIns="1397" tIns="1397" rIns="1397" bIns="1397" rtlCol="0" anchor="ctr">
            <a:normAutofit/>
          </a:bodyPr>
          <a:lstStyle/>
          <a:p>
            <a:pPr marL="0" indent="0" algn="ctr">
              <a:buNone/>
            </a:pPr>
            <a:r>
              <a:rPr lang="en-US" sz="1450" b="1" dirty="0">
                <a:solidFill>
                  <a:srgbClr val="111827"/>
                </a:solidFill>
                <a:latin typeface="Aptos" pitchFamily="34" charset="0"/>
                <a:ea typeface="Aptos" pitchFamily="34" charset="-122"/>
                <a:cs typeface="Aptos" pitchFamily="34" charset="-120"/>
              </a:rPr>
              <a:t>Low-stock alerts</a:t>
            </a:r>
            <a:endParaRPr lang="en-US" sz="1450" dirty="0"/>
          </a:p>
        </p:txBody>
      </p:sp>
      <p:sp>
        <p:nvSpPr>
          <p:cNvPr id="18" name="Text 16"/>
          <p:cNvSpPr/>
          <p:nvPr/>
        </p:nvSpPr>
        <p:spPr>
          <a:xfrm>
            <a:off x="3685032" y="5074920"/>
            <a:ext cx="2212848" cy="594360"/>
          </a:xfrm>
          <a:prstGeom prst="rect">
            <a:avLst/>
          </a:prstGeom>
          <a:solidFill>
            <a:srgbClr val="EAF2FA"/>
          </a:solidFill>
          <a:ln w="12700">
            <a:solidFill>
              <a:srgbClr val="1E4A72"/>
            </a:solidFill>
          </a:ln>
        </p:spPr>
        <p:txBody>
          <a:bodyPr wrap="square" lIns="1397" tIns="1397" rIns="1397" bIns="1397" rtlCol="0" anchor="ctr">
            <a:normAutofit/>
          </a:bodyPr>
          <a:lstStyle/>
          <a:p>
            <a:pPr marL="0" indent="0" algn="ctr">
              <a:buNone/>
            </a:pPr>
            <a:r>
              <a:rPr lang="en-US" sz="1450" b="1" dirty="0">
                <a:solidFill>
                  <a:srgbClr val="111827"/>
                </a:solidFill>
                <a:latin typeface="Aptos" pitchFamily="34" charset="0"/>
                <a:ea typeface="Aptos" pitchFamily="34" charset="-122"/>
                <a:cs typeface="Aptos" pitchFamily="34" charset="-120"/>
              </a:rPr>
              <a:t>Daily operations dashboard</a:t>
            </a:r>
            <a:endParaRPr lang="en-US" sz="1450" dirty="0"/>
          </a:p>
        </p:txBody>
      </p:sp>
      <p:sp>
        <p:nvSpPr>
          <p:cNvPr id="19" name="Text 17"/>
          <p:cNvSpPr/>
          <p:nvPr/>
        </p:nvSpPr>
        <p:spPr>
          <a:xfrm>
            <a:off x="6501384" y="5074920"/>
            <a:ext cx="2212848" cy="594360"/>
          </a:xfrm>
          <a:prstGeom prst="rect">
            <a:avLst/>
          </a:prstGeom>
          <a:solidFill>
            <a:srgbClr val="EAF5E1"/>
          </a:solidFill>
          <a:ln w="12700">
            <a:solidFill>
              <a:srgbClr val="6F8F4E"/>
            </a:solidFill>
          </a:ln>
        </p:spPr>
        <p:txBody>
          <a:bodyPr wrap="square" lIns="1397" tIns="1397" rIns="1397" bIns="1397" rtlCol="0" anchor="ctr">
            <a:normAutofit/>
          </a:bodyPr>
          <a:lstStyle/>
          <a:p>
            <a:pPr marL="0" indent="0" algn="ctr">
              <a:buNone/>
            </a:pPr>
            <a:r>
              <a:rPr lang="en-US" sz="1450" b="1" dirty="0">
                <a:solidFill>
                  <a:srgbClr val="111827"/>
                </a:solidFill>
                <a:latin typeface="Aptos" pitchFamily="34" charset="0"/>
                <a:ea typeface="Aptos" pitchFamily="34" charset="-122"/>
                <a:cs typeface="Aptos" pitchFamily="34" charset="-120"/>
              </a:rPr>
              <a:t>Role-based reports</a:t>
            </a:r>
            <a:endParaRPr lang="en-US" sz="1450" dirty="0"/>
          </a:p>
        </p:txBody>
      </p:sp>
      <p:sp>
        <p:nvSpPr>
          <p:cNvPr id="20" name="Text 18"/>
          <p:cNvSpPr/>
          <p:nvPr/>
        </p:nvSpPr>
        <p:spPr>
          <a:xfrm>
            <a:off x="9317736" y="5074920"/>
            <a:ext cx="2212848" cy="594360"/>
          </a:xfrm>
          <a:prstGeom prst="rect">
            <a:avLst/>
          </a:prstGeom>
          <a:solidFill>
            <a:srgbClr val="EAF2FA"/>
          </a:solidFill>
          <a:ln w="12700">
            <a:solidFill>
              <a:srgbClr val="1E4A72"/>
            </a:solidFill>
          </a:ln>
        </p:spPr>
        <p:txBody>
          <a:bodyPr wrap="square" lIns="1397" tIns="1397" rIns="1397" bIns="1397" rtlCol="0" anchor="ctr">
            <a:normAutofit/>
          </a:bodyPr>
          <a:lstStyle/>
          <a:p>
            <a:pPr marL="0" indent="0" algn="ctr">
              <a:buNone/>
            </a:pPr>
            <a:r>
              <a:rPr lang="en-US" sz="1450" b="1" dirty="0">
                <a:solidFill>
                  <a:srgbClr val="111827"/>
                </a:solidFill>
                <a:latin typeface="Aptos" pitchFamily="34" charset="0"/>
                <a:ea typeface="Aptos" pitchFamily="34" charset="-122"/>
                <a:cs typeface="Aptos" pitchFamily="34" charset="-120"/>
              </a:rPr>
              <a:t>Clean navigation menu</a:t>
            </a:r>
            <a:endParaRPr lang="en-US" sz="1450" dirty="0"/>
          </a:p>
        </p:txBody>
      </p:sp>
      <p:sp>
        <p:nvSpPr>
          <p:cNvPr id="21" name="Text 19"/>
          <p:cNvSpPr/>
          <p:nvPr/>
        </p:nvSpPr>
        <p:spPr>
          <a:xfrm>
            <a:off x="548640" y="6565392"/>
            <a:ext cx="3840480" cy="164592"/>
          </a:xfrm>
          <a:prstGeom prst="rect">
            <a:avLst/>
          </a:prstGeom>
          <a:noFill/>
          <a:ln/>
        </p:spPr>
        <p:txBody>
          <a:bodyPr wrap="square" lIns="0" tIns="0" rIns="0" bIns="0" rtlCol="0" anchor="ctr"/>
          <a:lstStyle/>
          <a:p>
            <a:pPr marL="0" indent="0">
              <a:buNone/>
            </a:pPr>
            <a:r>
              <a:rPr lang="en-US" sz="850" dirty="0">
                <a:solidFill>
                  <a:srgbClr val="8B7765"/>
                </a:solidFill>
              </a:rPr>
              <a:t>RCMS Final Project Presentation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2EA"/>
          </a:solidFill>
          <a:ln w="12700">
            <a:solidFill>
              <a:srgbClr val="F7F2EA">
                <a:alpha val="0"/>
              </a:srgbClr>
            </a:solidFill>
            <a:prstDash val="solid"/>
          </a:ln>
        </p:spPr>
        <p:txBody>
          <a:bodyPr/>
          <a:lstStyle/>
          <a:p>
            <a:endParaRPr lang="en-US"/>
          </a:p>
        </p:txBody>
      </p:sp>
      <p:sp>
        <p:nvSpPr>
          <p:cNvPr id="3" name="Shape 1"/>
          <p:cNvSpPr/>
          <p:nvPr/>
        </p:nvSpPr>
        <p:spPr>
          <a:xfrm>
            <a:off x="0" y="0"/>
            <a:ext cx="12191695" cy="237744"/>
          </a:xfrm>
          <a:prstGeom prst="rect">
            <a:avLst/>
          </a:prstGeom>
          <a:solidFill>
            <a:srgbClr val="4B2E20"/>
          </a:solidFill>
          <a:ln w="12700">
            <a:solidFill>
              <a:srgbClr val="4B2E20">
                <a:alpha val="0"/>
              </a:srgbClr>
            </a:solidFill>
            <a:prstDash val="solid"/>
          </a:ln>
        </p:spPr>
        <p:txBody>
          <a:bodyPr/>
          <a:lstStyle/>
          <a:p>
            <a:endParaRPr lang="en-US"/>
          </a:p>
        </p:txBody>
      </p:sp>
      <p:sp>
        <p:nvSpPr>
          <p:cNvPr id="4" name="Text 2"/>
          <p:cNvSpPr/>
          <p:nvPr/>
        </p:nvSpPr>
        <p:spPr>
          <a:xfrm>
            <a:off x="530352" y="438912"/>
            <a:ext cx="8412480" cy="411480"/>
          </a:xfrm>
          <a:prstGeom prst="rect">
            <a:avLst/>
          </a:prstGeom>
          <a:noFill/>
          <a:ln/>
        </p:spPr>
        <p:txBody>
          <a:bodyPr wrap="square" lIns="0" tIns="0" rIns="0" bIns="0"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Context diagram: RCMS boundary and external users</a:t>
            </a:r>
            <a:endParaRPr lang="en-US" sz="2400" dirty="0"/>
          </a:p>
        </p:txBody>
      </p:sp>
      <p:sp>
        <p:nvSpPr>
          <p:cNvPr id="5" name="Text 3"/>
          <p:cNvSpPr/>
          <p:nvPr/>
        </p:nvSpPr>
        <p:spPr>
          <a:xfrm>
            <a:off x="548640" y="932688"/>
            <a:ext cx="8778240" cy="256032"/>
          </a:xfrm>
          <a:prstGeom prst="rect">
            <a:avLst/>
          </a:prstGeom>
          <a:noFill/>
          <a:ln/>
        </p:spPr>
        <p:txBody>
          <a:bodyPr wrap="square" lIns="0" tIns="0" rIns="0" bIns="0" rtlCol="0" anchor="ctr"/>
          <a:lstStyle/>
          <a:p>
            <a:pPr marL="0" indent="0">
              <a:buNone/>
            </a:pPr>
            <a:r>
              <a:rPr lang="en-US" sz="1050" dirty="0">
                <a:solidFill>
                  <a:srgbClr val="64748B"/>
                </a:solidFill>
              </a:rPr>
              <a:t>The context model shows how employees, managers, and owners exchange information with RCMS</a:t>
            </a:r>
            <a:endParaRPr lang="en-US" sz="1050" dirty="0"/>
          </a:p>
        </p:txBody>
      </p:sp>
      <p:sp>
        <p:nvSpPr>
          <p:cNvPr id="6" name="Text 4"/>
          <p:cNvSpPr/>
          <p:nvPr/>
        </p:nvSpPr>
        <p:spPr>
          <a:xfrm>
            <a:off x="10899648" y="502920"/>
            <a:ext cx="685800" cy="310896"/>
          </a:xfrm>
          <a:prstGeom prst="rect">
            <a:avLst/>
          </a:prstGeom>
          <a:noFill/>
          <a:ln/>
        </p:spPr>
        <p:txBody>
          <a:bodyPr wrap="square" lIns="0" tIns="0" rIns="0" bIns="0" rtlCol="0" anchor="ctr"/>
          <a:lstStyle/>
          <a:p>
            <a:pPr marL="0" indent="0" algn="r">
              <a:buNone/>
            </a:pPr>
            <a:r>
              <a:rPr lang="en-US" sz="1200" b="1" dirty="0">
                <a:solidFill>
                  <a:srgbClr val="C9823C"/>
                </a:solidFill>
              </a:rPr>
              <a:t>07</a:t>
            </a:r>
            <a:endParaRPr lang="en-US" sz="1200" dirty="0"/>
          </a:p>
        </p:txBody>
      </p:sp>
      <p:sp>
        <p:nvSpPr>
          <p:cNvPr id="7" name="Shape 5"/>
          <p:cNvSpPr/>
          <p:nvPr/>
        </p:nvSpPr>
        <p:spPr>
          <a:xfrm>
            <a:off x="548640" y="1115568"/>
            <a:ext cx="11064240" cy="0"/>
          </a:xfrm>
          <a:prstGeom prst="line">
            <a:avLst/>
          </a:prstGeom>
          <a:noFill/>
          <a:ln w="12700">
            <a:solidFill>
              <a:srgbClr val="D7C7B6"/>
            </a:solidFill>
            <a:prstDash val="solid"/>
          </a:ln>
        </p:spPr>
        <p:txBody>
          <a:bodyPr/>
          <a:lstStyle/>
          <a:p>
            <a:endParaRPr lang="en-US"/>
          </a:p>
        </p:txBody>
      </p:sp>
      <p:pic>
        <p:nvPicPr>
          <p:cNvPr id="8" name="Image 0" descr="/mnt/data/Screenshot 2026-05-25 at 1.22.15 PM.png"/>
          <p:cNvPicPr>
            <a:picLocks noChangeAspect="1"/>
          </p:cNvPicPr>
          <p:nvPr/>
        </p:nvPicPr>
        <p:blipFill>
          <a:blip r:embed="rId3"/>
          <a:stretch>
            <a:fillRect/>
          </a:stretch>
        </p:blipFill>
        <p:spPr>
          <a:xfrm>
            <a:off x="594360" y="1499472"/>
            <a:ext cx="7589520" cy="4361977"/>
          </a:xfrm>
          <a:prstGeom prst="rect">
            <a:avLst/>
          </a:prstGeom>
        </p:spPr>
      </p:pic>
      <p:sp>
        <p:nvSpPr>
          <p:cNvPr id="9" name="Text 6"/>
          <p:cNvSpPr/>
          <p:nvPr/>
        </p:nvSpPr>
        <p:spPr>
          <a:xfrm>
            <a:off x="8458200" y="1417320"/>
            <a:ext cx="3063240" cy="457200"/>
          </a:xfrm>
          <a:prstGeom prst="rect">
            <a:avLst/>
          </a:prstGeom>
          <a:solidFill>
            <a:srgbClr val="1E4A72"/>
          </a:solidFill>
          <a:ln w="12700">
            <a:solidFill>
              <a:srgbClr val="1E4A72"/>
            </a:solidFill>
          </a:ln>
        </p:spPr>
        <p:txBody>
          <a:bodyPr wrap="square" lIns="1397" tIns="1397" rIns="1397" bIns="1397"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Key takeaways</a:t>
            </a:r>
            <a:endParaRPr lang="en-US" sz="1500" dirty="0"/>
          </a:p>
        </p:txBody>
      </p:sp>
      <p:sp>
        <p:nvSpPr>
          <p:cNvPr id="10" name="Text 7"/>
          <p:cNvSpPr/>
          <p:nvPr/>
        </p:nvSpPr>
        <p:spPr>
          <a:xfrm>
            <a:off x="8567928" y="1984248"/>
            <a:ext cx="2843784" cy="3355848"/>
          </a:xfrm>
          <a:prstGeom prst="rect">
            <a:avLst/>
          </a:prstGeom>
          <a:noFill/>
          <a:ln/>
        </p:spPr>
        <p:txBody>
          <a:bodyPr wrap="square" lIns="508" tIns="508" rIns="508" bIns="508" rtlCol="0" anchor="t">
            <a:normAutofit/>
          </a:bodyPr>
          <a:lstStyle/>
          <a:p>
            <a:r>
              <a:rPr lang="en-US" sz="1220" dirty="0">
                <a:solidFill>
                  <a:srgbClr val="111827"/>
                </a:solidFill>
              </a:rPr>
              <a:t>• RCMS is the central system boundary.</a:t>
            </a:r>
            <a:endParaRPr lang="en-US" sz="1220" dirty="0"/>
          </a:p>
          <a:p>
            <a:r>
              <a:rPr lang="en-US" sz="1220" dirty="0">
                <a:solidFill>
                  <a:srgbClr val="111827"/>
                </a:solidFill>
              </a:rPr>
              <a:t>• Employees send order details and receive order/status information.</a:t>
            </a:r>
            <a:endParaRPr lang="en-US" sz="1220" dirty="0"/>
          </a:p>
          <a:p>
            <a:r>
              <a:rPr lang="en-US" sz="1220" dirty="0">
                <a:solidFill>
                  <a:srgbClr val="111827"/>
                </a:solidFill>
              </a:rPr>
              <a:t>• Managers update inventory, schedules, and menu changes.</a:t>
            </a:r>
            <a:endParaRPr lang="en-US" sz="1220" dirty="0"/>
          </a:p>
          <a:p>
            <a:r>
              <a:rPr lang="en-US" sz="1220" dirty="0">
                <a:solidFill>
                  <a:srgbClr val="111827"/>
                </a:solidFill>
              </a:rPr>
              <a:t>• Owners request reports and receive business results.</a:t>
            </a:r>
            <a:endParaRPr lang="en-US" sz="1220" dirty="0"/>
          </a:p>
        </p:txBody>
      </p:sp>
      <p:sp>
        <p:nvSpPr>
          <p:cNvPr id="11" name="Text 8"/>
          <p:cNvSpPr/>
          <p:nvPr/>
        </p:nvSpPr>
        <p:spPr>
          <a:xfrm>
            <a:off x="548640" y="6565392"/>
            <a:ext cx="3840480" cy="164592"/>
          </a:xfrm>
          <a:prstGeom prst="rect">
            <a:avLst/>
          </a:prstGeom>
          <a:noFill/>
          <a:ln/>
        </p:spPr>
        <p:txBody>
          <a:bodyPr wrap="square" lIns="0" tIns="0" rIns="0" bIns="0" rtlCol="0" anchor="ctr"/>
          <a:lstStyle/>
          <a:p>
            <a:pPr marL="0" indent="0">
              <a:buNone/>
            </a:pPr>
            <a:r>
              <a:rPr lang="en-US" sz="850" dirty="0">
                <a:solidFill>
                  <a:srgbClr val="8B7765"/>
                </a:solidFill>
              </a:rPr>
              <a:t>RCMS Final Project Presentation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2EA"/>
          </a:solidFill>
          <a:ln w="12700">
            <a:solidFill>
              <a:srgbClr val="F7F2EA">
                <a:alpha val="0"/>
              </a:srgbClr>
            </a:solidFill>
            <a:prstDash val="solid"/>
          </a:ln>
        </p:spPr>
        <p:txBody>
          <a:bodyPr/>
          <a:lstStyle/>
          <a:p>
            <a:endParaRPr lang="en-US"/>
          </a:p>
        </p:txBody>
      </p:sp>
      <p:sp>
        <p:nvSpPr>
          <p:cNvPr id="3" name="Shape 1"/>
          <p:cNvSpPr/>
          <p:nvPr/>
        </p:nvSpPr>
        <p:spPr>
          <a:xfrm>
            <a:off x="0" y="0"/>
            <a:ext cx="12191695" cy="237744"/>
          </a:xfrm>
          <a:prstGeom prst="rect">
            <a:avLst/>
          </a:prstGeom>
          <a:solidFill>
            <a:srgbClr val="4B2E20"/>
          </a:solidFill>
          <a:ln w="12700">
            <a:solidFill>
              <a:srgbClr val="4B2E20">
                <a:alpha val="0"/>
              </a:srgbClr>
            </a:solidFill>
            <a:prstDash val="solid"/>
          </a:ln>
        </p:spPr>
        <p:txBody>
          <a:bodyPr/>
          <a:lstStyle/>
          <a:p>
            <a:endParaRPr lang="en-US"/>
          </a:p>
        </p:txBody>
      </p:sp>
      <p:sp>
        <p:nvSpPr>
          <p:cNvPr id="4" name="Text 2"/>
          <p:cNvSpPr/>
          <p:nvPr/>
        </p:nvSpPr>
        <p:spPr>
          <a:xfrm>
            <a:off x="530352" y="438912"/>
            <a:ext cx="8412480" cy="411480"/>
          </a:xfrm>
          <a:prstGeom prst="rect">
            <a:avLst/>
          </a:prstGeom>
          <a:noFill/>
          <a:ln/>
        </p:spPr>
        <p:txBody>
          <a:bodyPr wrap="square" lIns="0" tIns="0" rIns="0" bIns="0"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DFD-0: major processes and data stores</a:t>
            </a:r>
            <a:endParaRPr lang="en-US" sz="2400" dirty="0"/>
          </a:p>
        </p:txBody>
      </p:sp>
      <p:sp>
        <p:nvSpPr>
          <p:cNvPr id="5" name="Text 3"/>
          <p:cNvSpPr/>
          <p:nvPr/>
        </p:nvSpPr>
        <p:spPr>
          <a:xfrm>
            <a:off x="548640" y="932688"/>
            <a:ext cx="8778240" cy="256032"/>
          </a:xfrm>
          <a:prstGeom prst="rect">
            <a:avLst/>
          </a:prstGeom>
          <a:noFill/>
          <a:ln/>
        </p:spPr>
        <p:txBody>
          <a:bodyPr wrap="square" lIns="0" tIns="0" rIns="0" bIns="0" rtlCol="0" anchor="ctr"/>
          <a:lstStyle/>
          <a:p>
            <a:pPr marL="0" indent="0">
              <a:buNone/>
            </a:pPr>
            <a:r>
              <a:rPr lang="en-US" sz="1050" dirty="0">
                <a:solidFill>
                  <a:srgbClr val="64748B"/>
                </a:solidFill>
              </a:rPr>
              <a:t>The level-zero data flow diagram breaks RCMS into its main processes</a:t>
            </a:r>
            <a:endParaRPr lang="en-US" sz="1050" dirty="0"/>
          </a:p>
        </p:txBody>
      </p:sp>
      <p:sp>
        <p:nvSpPr>
          <p:cNvPr id="6" name="Text 4"/>
          <p:cNvSpPr/>
          <p:nvPr/>
        </p:nvSpPr>
        <p:spPr>
          <a:xfrm>
            <a:off x="10899648" y="502920"/>
            <a:ext cx="685800" cy="310896"/>
          </a:xfrm>
          <a:prstGeom prst="rect">
            <a:avLst/>
          </a:prstGeom>
          <a:noFill/>
          <a:ln/>
        </p:spPr>
        <p:txBody>
          <a:bodyPr wrap="square" lIns="0" tIns="0" rIns="0" bIns="0" rtlCol="0" anchor="ctr"/>
          <a:lstStyle/>
          <a:p>
            <a:pPr marL="0" indent="0" algn="r">
              <a:buNone/>
            </a:pPr>
            <a:r>
              <a:rPr lang="en-US" sz="1200" b="1" dirty="0">
                <a:solidFill>
                  <a:srgbClr val="C9823C"/>
                </a:solidFill>
              </a:rPr>
              <a:t>08</a:t>
            </a:r>
            <a:endParaRPr lang="en-US" sz="1200" dirty="0"/>
          </a:p>
        </p:txBody>
      </p:sp>
      <p:sp>
        <p:nvSpPr>
          <p:cNvPr id="7" name="Shape 5"/>
          <p:cNvSpPr/>
          <p:nvPr/>
        </p:nvSpPr>
        <p:spPr>
          <a:xfrm>
            <a:off x="548640" y="1115568"/>
            <a:ext cx="11064240" cy="0"/>
          </a:xfrm>
          <a:prstGeom prst="line">
            <a:avLst/>
          </a:prstGeom>
          <a:noFill/>
          <a:ln w="12700">
            <a:solidFill>
              <a:srgbClr val="D7C7B6"/>
            </a:solidFill>
            <a:prstDash val="solid"/>
          </a:ln>
        </p:spPr>
        <p:txBody>
          <a:bodyPr/>
          <a:lstStyle/>
          <a:p>
            <a:endParaRPr lang="en-US"/>
          </a:p>
        </p:txBody>
      </p:sp>
      <p:pic>
        <p:nvPicPr>
          <p:cNvPr id="8" name="Image 0" descr="/mnt/data/Screenshot 2026-05-25 at 1.22.21 PM.png"/>
          <p:cNvPicPr>
            <a:picLocks noChangeAspect="1"/>
          </p:cNvPicPr>
          <p:nvPr/>
        </p:nvPicPr>
        <p:blipFill>
          <a:blip r:embed="rId3"/>
          <a:stretch>
            <a:fillRect/>
          </a:stretch>
        </p:blipFill>
        <p:spPr>
          <a:xfrm>
            <a:off x="1002779" y="1234440"/>
            <a:ext cx="6818403" cy="4937760"/>
          </a:xfrm>
          <a:prstGeom prst="rect">
            <a:avLst/>
          </a:prstGeom>
        </p:spPr>
      </p:pic>
      <p:sp>
        <p:nvSpPr>
          <p:cNvPr id="9" name="Text 6"/>
          <p:cNvSpPr/>
          <p:nvPr/>
        </p:nvSpPr>
        <p:spPr>
          <a:xfrm>
            <a:off x="8641080" y="1353312"/>
            <a:ext cx="2743200" cy="457200"/>
          </a:xfrm>
          <a:prstGeom prst="rect">
            <a:avLst/>
          </a:prstGeom>
          <a:solidFill>
            <a:srgbClr val="6F8F4E"/>
          </a:solidFill>
          <a:ln w="12700">
            <a:solidFill>
              <a:srgbClr val="6F8F4E"/>
            </a:solidFill>
          </a:ln>
        </p:spPr>
        <p:txBody>
          <a:bodyPr wrap="square" lIns="1397" tIns="1397" rIns="1397" bIns="1397"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Processes</a:t>
            </a:r>
            <a:endParaRPr lang="en-US" sz="1500" dirty="0"/>
          </a:p>
        </p:txBody>
      </p:sp>
      <p:sp>
        <p:nvSpPr>
          <p:cNvPr id="10" name="Text 7"/>
          <p:cNvSpPr/>
          <p:nvPr/>
        </p:nvSpPr>
        <p:spPr>
          <a:xfrm>
            <a:off x="8750808" y="1920240"/>
            <a:ext cx="2523744" cy="1344168"/>
          </a:xfrm>
          <a:prstGeom prst="rect">
            <a:avLst/>
          </a:prstGeom>
          <a:noFill/>
          <a:ln/>
        </p:spPr>
        <p:txBody>
          <a:bodyPr wrap="square" lIns="508" tIns="508" rIns="508" bIns="508" rtlCol="0" anchor="t">
            <a:normAutofit/>
          </a:bodyPr>
          <a:lstStyle/>
          <a:p>
            <a:r>
              <a:rPr lang="en-US" sz="1250" dirty="0">
                <a:solidFill>
                  <a:srgbClr val="111827"/>
                </a:solidFill>
              </a:rPr>
              <a:t>• 1.0 Manage Orders</a:t>
            </a:r>
            <a:endParaRPr lang="en-US" sz="1250" dirty="0"/>
          </a:p>
          <a:p>
            <a:r>
              <a:rPr lang="en-US" sz="1250" dirty="0">
                <a:solidFill>
                  <a:srgbClr val="111827"/>
                </a:solidFill>
              </a:rPr>
              <a:t>• 2.0 Manage Inventory</a:t>
            </a:r>
            <a:endParaRPr lang="en-US" sz="1250" dirty="0"/>
          </a:p>
          <a:p>
            <a:r>
              <a:rPr lang="en-US" sz="1250" dirty="0">
                <a:solidFill>
                  <a:srgbClr val="111827"/>
                </a:solidFill>
              </a:rPr>
              <a:t>• 3.0 Manage Schedule</a:t>
            </a:r>
            <a:endParaRPr lang="en-US" sz="1250" dirty="0"/>
          </a:p>
          <a:p>
            <a:r>
              <a:rPr lang="en-US" sz="1250" dirty="0">
                <a:solidFill>
                  <a:srgbClr val="111827"/>
                </a:solidFill>
              </a:rPr>
              <a:t>• 4.0 Generate Reports</a:t>
            </a:r>
            <a:endParaRPr lang="en-US" sz="1250" dirty="0"/>
          </a:p>
        </p:txBody>
      </p:sp>
      <p:sp>
        <p:nvSpPr>
          <p:cNvPr id="11" name="Text 8"/>
          <p:cNvSpPr/>
          <p:nvPr/>
        </p:nvSpPr>
        <p:spPr>
          <a:xfrm>
            <a:off x="8641080" y="3639312"/>
            <a:ext cx="2743200" cy="457200"/>
          </a:xfrm>
          <a:prstGeom prst="rect">
            <a:avLst/>
          </a:prstGeom>
          <a:solidFill>
            <a:srgbClr val="C9823C"/>
          </a:solidFill>
          <a:ln w="12700">
            <a:solidFill>
              <a:srgbClr val="C9823C"/>
            </a:solidFill>
          </a:ln>
        </p:spPr>
        <p:txBody>
          <a:bodyPr wrap="square" lIns="1397" tIns="1397" rIns="1397" bIns="1397"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Data stores</a:t>
            </a:r>
            <a:endParaRPr lang="en-US" sz="1500" dirty="0"/>
          </a:p>
        </p:txBody>
      </p:sp>
      <p:sp>
        <p:nvSpPr>
          <p:cNvPr id="12" name="Text 9"/>
          <p:cNvSpPr/>
          <p:nvPr/>
        </p:nvSpPr>
        <p:spPr>
          <a:xfrm>
            <a:off x="8750808" y="4206240"/>
            <a:ext cx="2523744" cy="1115568"/>
          </a:xfrm>
          <a:prstGeom prst="rect">
            <a:avLst/>
          </a:prstGeom>
          <a:noFill/>
          <a:ln/>
        </p:spPr>
        <p:txBody>
          <a:bodyPr wrap="square" lIns="508" tIns="508" rIns="508" bIns="508" rtlCol="0" anchor="t">
            <a:normAutofit/>
          </a:bodyPr>
          <a:lstStyle/>
          <a:p>
            <a:r>
              <a:rPr lang="en-US" sz="1250" dirty="0">
                <a:solidFill>
                  <a:srgbClr val="111827"/>
                </a:solidFill>
              </a:rPr>
              <a:t>• D1 Orders</a:t>
            </a:r>
            <a:endParaRPr lang="en-US" sz="1250" dirty="0"/>
          </a:p>
          <a:p>
            <a:r>
              <a:rPr lang="en-US" sz="1250" dirty="0">
                <a:solidFill>
                  <a:srgbClr val="111827"/>
                </a:solidFill>
              </a:rPr>
              <a:t>• D2 Inventory</a:t>
            </a:r>
            <a:endParaRPr lang="en-US" sz="1250" dirty="0"/>
          </a:p>
          <a:p>
            <a:r>
              <a:rPr lang="en-US" sz="1250" dirty="0">
                <a:solidFill>
                  <a:srgbClr val="111827"/>
                </a:solidFill>
              </a:rPr>
              <a:t>• D3 Employees</a:t>
            </a:r>
            <a:endParaRPr lang="en-US" sz="1250" dirty="0"/>
          </a:p>
        </p:txBody>
      </p:sp>
      <p:sp>
        <p:nvSpPr>
          <p:cNvPr id="13" name="Text 10"/>
          <p:cNvSpPr/>
          <p:nvPr/>
        </p:nvSpPr>
        <p:spPr>
          <a:xfrm>
            <a:off x="548640" y="6565392"/>
            <a:ext cx="3840480" cy="164592"/>
          </a:xfrm>
          <a:prstGeom prst="rect">
            <a:avLst/>
          </a:prstGeom>
          <a:noFill/>
          <a:ln/>
        </p:spPr>
        <p:txBody>
          <a:bodyPr wrap="square" lIns="0" tIns="0" rIns="0" bIns="0" rtlCol="0" anchor="ctr"/>
          <a:lstStyle/>
          <a:p>
            <a:pPr marL="0" indent="0">
              <a:buNone/>
            </a:pPr>
            <a:r>
              <a:rPr lang="en-US" sz="850" dirty="0">
                <a:solidFill>
                  <a:srgbClr val="8B7765"/>
                </a:solidFill>
              </a:rPr>
              <a:t>RCMS Final Project Presentation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2EA"/>
          </a:solidFill>
          <a:ln w="12700">
            <a:solidFill>
              <a:srgbClr val="F7F2EA">
                <a:alpha val="0"/>
              </a:srgbClr>
            </a:solidFill>
            <a:prstDash val="solid"/>
          </a:ln>
        </p:spPr>
        <p:txBody>
          <a:bodyPr/>
          <a:lstStyle/>
          <a:p>
            <a:endParaRPr lang="en-US"/>
          </a:p>
        </p:txBody>
      </p:sp>
      <p:sp>
        <p:nvSpPr>
          <p:cNvPr id="3" name="Shape 1"/>
          <p:cNvSpPr/>
          <p:nvPr/>
        </p:nvSpPr>
        <p:spPr>
          <a:xfrm>
            <a:off x="0" y="0"/>
            <a:ext cx="12191695" cy="237744"/>
          </a:xfrm>
          <a:prstGeom prst="rect">
            <a:avLst/>
          </a:prstGeom>
          <a:solidFill>
            <a:srgbClr val="4B2E20"/>
          </a:solidFill>
          <a:ln w="12700">
            <a:solidFill>
              <a:srgbClr val="4B2E20">
                <a:alpha val="0"/>
              </a:srgbClr>
            </a:solidFill>
            <a:prstDash val="solid"/>
          </a:ln>
        </p:spPr>
        <p:txBody>
          <a:bodyPr/>
          <a:lstStyle/>
          <a:p>
            <a:endParaRPr lang="en-US"/>
          </a:p>
        </p:txBody>
      </p:sp>
      <p:sp>
        <p:nvSpPr>
          <p:cNvPr id="4" name="Text 2"/>
          <p:cNvSpPr/>
          <p:nvPr/>
        </p:nvSpPr>
        <p:spPr>
          <a:xfrm>
            <a:off x="530352" y="438912"/>
            <a:ext cx="8412480" cy="411480"/>
          </a:xfrm>
          <a:prstGeom prst="rect">
            <a:avLst/>
          </a:prstGeom>
          <a:noFill/>
          <a:ln/>
        </p:spPr>
        <p:txBody>
          <a:bodyPr wrap="square" lIns="0" tIns="0" rIns="0" bIns="0"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ERD: data relationships supporting the prototype</a:t>
            </a:r>
            <a:endParaRPr lang="en-US" sz="2400" dirty="0"/>
          </a:p>
        </p:txBody>
      </p:sp>
      <p:sp>
        <p:nvSpPr>
          <p:cNvPr id="5" name="Text 3"/>
          <p:cNvSpPr/>
          <p:nvPr/>
        </p:nvSpPr>
        <p:spPr>
          <a:xfrm>
            <a:off x="548640" y="932688"/>
            <a:ext cx="8778240" cy="256032"/>
          </a:xfrm>
          <a:prstGeom prst="rect">
            <a:avLst/>
          </a:prstGeom>
          <a:noFill/>
          <a:ln/>
        </p:spPr>
        <p:txBody>
          <a:bodyPr wrap="square" lIns="0" tIns="0" rIns="0" bIns="0" rtlCol="0" anchor="ctr"/>
          <a:lstStyle/>
          <a:p>
            <a:pPr marL="0" indent="0">
              <a:buNone/>
            </a:pPr>
            <a:r>
              <a:rPr lang="en-US" sz="1050" dirty="0">
                <a:solidFill>
                  <a:srgbClr val="64748B"/>
                </a:solidFill>
              </a:rPr>
              <a:t>The ERD shows the main entities and how records connect in the database</a:t>
            </a:r>
            <a:endParaRPr lang="en-US" sz="1050" dirty="0"/>
          </a:p>
        </p:txBody>
      </p:sp>
      <p:sp>
        <p:nvSpPr>
          <p:cNvPr id="6" name="Text 4"/>
          <p:cNvSpPr/>
          <p:nvPr/>
        </p:nvSpPr>
        <p:spPr>
          <a:xfrm>
            <a:off x="10899648" y="502920"/>
            <a:ext cx="685800" cy="310896"/>
          </a:xfrm>
          <a:prstGeom prst="rect">
            <a:avLst/>
          </a:prstGeom>
          <a:noFill/>
          <a:ln/>
        </p:spPr>
        <p:txBody>
          <a:bodyPr wrap="square" lIns="0" tIns="0" rIns="0" bIns="0" rtlCol="0" anchor="ctr"/>
          <a:lstStyle/>
          <a:p>
            <a:pPr marL="0" indent="0" algn="r">
              <a:buNone/>
            </a:pPr>
            <a:r>
              <a:rPr lang="en-US" sz="1200" b="1" dirty="0">
                <a:solidFill>
                  <a:srgbClr val="C9823C"/>
                </a:solidFill>
              </a:rPr>
              <a:t>09</a:t>
            </a:r>
            <a:endParaRPr lang="en-US" sz="1200" dirty="0"/>
          </a:p>
        </p:txBody>
      </p:sp>
      <p:sp>
        <p:nvSpPr>
          <p:cNvPr id="7" name="Shape 5"/>
          <p:cNvSpPr/>
          <p:nvPr/>
        </p:nvSpPr>
        <p:spPr>
          <a:xfrm>
            <a:off x="548640" y="1115568"/>
            <a:ext cx="11064240" cy="0"/>
          </a:xfrm>
          <a:prstGeom prst="line">
            <a:avLst/>
          </a:prstGeom>
          <a:noFill/>
          <a:ln w="12700">
            <a:solidFill>
              <a:srgbClr val="D7C7B6"/>
            </a:solidFill>
            <a:prstDash val="solid"/>
          </a:ln>
        </p:spPr>
        <p:txBody>
          <a:bodyPr/>
          <a:lstStyle/>
          <a:p>
            <a:endParaRPr lang="en-US"/>
          </a:p>
        </p:txBody>
      </p:sp>
      <p:pic>
        <p:nvPicPr>
          <p:cNvPr id="8" name="Image 0" descr="/mnt/data/Screenshot 2026-05-25 at 1.51.30 PM (1).png"/>
          <p:cNvPicPr>
            <a:picLocks noChangeAspect="1"/>
          </p:cNvPicPr>
          <p:nvPr/>
        </p:nvPicPr>
        <p:blipFill>
          <a:blip r:embed="rId3"/>
          <a:stretch>
            <a:fillRect/>
          </a:stretch>
        </p:blipFill>
        <p:spPr>
          <a:xfrm>
            <a:off x="1353496" y="1216152"/>
            <a:ext cx="6528449" cy="4956048"/>
          </a:xfrm>
          <a:prstGeom prst="rect">
            <a:avLst/>
          </a:prstGeom>
        </p:spPr>
      </p:pic>
      <p:sp>
        <p:nvSpPr>
          <p:cNvPr id="9" name="Text 6"/>
          <p:cNvSpPr/>
          <p:nvPr/>
        </p:nvSpPr>
        <p:spPr>
          <a:xfrm>
            <a:off x="9034272" y="1353312"/>
            <a:ext cx="2697480" cy="457200"/>
          </a:xfrm>
          <a:prstGeom prst="rect">
            <a:avLst/>
          </a:prstGeom>
          <a:solidFill>
            <a:srgbClr val="1E4A72"/>
          </a:solidFill>
          <a:ln w="12700">
            <a:solidFill>
              <a:srgbClr val="1E4A72"/>
            </a:solidFill>
          </a:ln>
        </p:spPr>
        <p:txBody>
          <a:bodyPr wrap="square" lIns="1397" tIns="1397" rIns="1397" bIns="1397"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Core entities</a:t>
            </a:r>
            <a:endParaRPr lang="en-US" sz="1500" dirty="0"/>
          </a:p>
        </p:txBody>
      </p:sp>
      <p:sp>
        <p:nvSpPr>
          <p:cNvPr id="10" name="Text 7"/>
          <p:cNvSpPr/>
          <p:nvPr/>
        </p:nvSpPr>
        <p:spPr>
          <a:xfrm>
            <a:off x="9144000" y="1920240"/>
            <a:ext cx="2478024" cy="1435608"/>
          </a:xfrm>
          <a:prstGeom prst="rect">
            <a:avLst/>
          </a:prstGeom>
          <a:noFill/>
          <a:ln/>
        </p:spPr>
        <p:txBody>
          <a:bodyPr wrap="square" lIns="508" tIns="508" rIns="508" bIns="508" rtlCol="0" anchor="t">
            <a:normAutofit/>
          </a:bodyPr>
          <a:lstStyle/>
          <a:p>
            <a:r>
              <a:rPr lang="en-US" sz="1240" dirty="0">
                <a:solidFill>
                  <a:srgbClr val="111827"/>
                </a:solidFill>
              </a:rPr>
              <a:t>• Employee / Manager / Owner</a:t>
            </a:r>
            <a:endParaRPr lang="en-US" sz="1240" dirty="0"/>
          </a:p>
          <a:p>
            <a:r>
              <a:rPr lang="en-US" sz="1240" dirty="0">
                <a:solidFill>
                  <a:srgbClr val="111827"/>
                </a:solidFill>
              </a:rPr>
              <a:t>• Order and Order Item</a:t>
            </a:r>
            <a:endParaRPr lang="en-US" sz="1240" dirty="0"/>
          </a:p>
          <a:p>
            <a:r>
              <a:rPr lang="en-US" sz="1240" dirty="0">
                <a:solidFill>
                  <a:srgbClr val="111827"/>
                </a:solidFill>
              </a:rPr>
              <a:t>• Product and Inventory</a:t>
            </a:r>
            <a:endParaRPr lang="en-US" sz="1240" dirty="0"/>
          </a:p>
          <a:p>
            <a:r>
              <a:rPr lang="en-US" sz="1240" dirty="0">
                <a:solidFill>
                  <a:srgbClr val="111827"/>
                </a:solidFill>
              </a:rPr>
              <a:t>• Schedule and Reports</a:t>
            </a:r>
            <a:endParaRPr lang="en-US" sz="1240" dirty="0"/>
          </a:p>
        </p:txBody>
      </p:sp>
      <p:sp>
        <p:nvSpPr>
          <p:cNvPr id="11" name="Text 8"/>
          <p:cNvSpPr/>
          <p:nvPr/>
        </p:nvSpPr>
        <p:spPr>
          <a:xfrm>
            <a:off x="9034272" y="3730752"/>
            <a:ext cx="2697480" cy="457200"/>
          </a:xfrm>
          <a:prstGeom prst="rect">
            <a:avLst/>
          </a:prstGeom>
          <a:solidFill>
            <a:srgbClr val="6F8F4E"/>
          </a:solidFill>
          <a:ln w="12700">
            <a:solidFill>
              <a:srgbClr val="6F8F4E"/>
            </a:solidFill>
          </a:ln>
        </p:spPr>
        <p:txBody>
          <a:bodyPr wrap="square" lIns="1397" tIns="1397" rIns="1397" bIns="1397"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Relationship logic</a:t>
            </a:r>
            <a:endParaRPr lang="en-US" sz="1500" dirty="0"/>
          </a:p>
        </p:txBody>
      </p:sp>
      <p:sp>
        <p:nvSpPr>
          <p:cNvPr id="12" name="Text 9"/>
          <p:cNvSpPr/>
          <p:nvPr/>
        </p:nvSpPr>
        <p:spPr>
          <a:xfrm>
            <a:off x="9144000" y="4297680"/>
            <a:ext cx="2478024" cy="1298448"/>
          </a:xfrm>
          <a:prstGeom prst="rect">
            <a:avLst/>
          </a:prstGeom>
          <a:noFill/>
          <a:ln/>
        </p:spPr>
        <p:txBody>
          <a:bodyPr wrap="square" lIns="508" tIns="508" rIns="508" bIns="508" rtlCol="0" anchor="t">
            <a:normAutofit/>
          </a:bodyPr>
          <a:lstStyle/>
          <a:p>
            <a:r>
              <a:rPr lang="en-US" sz="1220" dirty="0">
                <a:solidFill>
                  <a:srgbClr val="111827"/>
                </a:solidFill>
              </a:rPr>
              <a:t>• One order can contain many order items.</a:t>
            </a:r>
            <a:endParaRPr lang="en-US" sz="1220" dirty="0"/>
          </a:p>
          <a:p>
            <a:r>
              <a:rPr lang="en-US" sz="1220" dirty="0">
                <a:solidFill>
                  <a:srgbClr val="111827"/>
                </a:solidFill>
              </a:rPr>
              <a:t>• Products are stored in inventory.</a:t>
            </a:r>
            <a:endParaRPr lang="en-US" sz="1220" dirty="0"/>
          </a:p>
          <a:p>
            <a:r>
              <a:rPr lang="en-US" sz="1220" dirty="0">
                <a:solidFill>
                  <a:srgbClr val="111827"/>
                </a:solidFill>
              </a:rPr>
              <a:t>• Reports are generated from operational records.</a:t>
            </a:r>
            <a:endParaRPr lang="en-US" sz="1220" dirty="0"/>
          </a:p>
        </p:txBody>
      </p:sp>
      <p:sp>
        <p:nvSpPr>
          <p:cNvPr id="13" name="Text 10"/>
          <p:cNvSpPr/>
          <p:nvPr/>
        </p:nvSpPr>
        <p:spPr>
          <a:xfrm>
            <a:off x="548640" y="6565392"/>
            <a:ext cx="3840480" cy="164592"/>
          </a:xfrm>
          <a:prstGeom prst="rect">
            <a:avLst/>
          </a:prstGeom>
          <a:noFill/>
          <a:ln/>
        </p:spPr>
        <p:txBody>
          <a:bodyPr wrap="square" lIns="0" tIns="0" rIns="0" bIns="0" rtlCol="0" anchor="ctr"/>
          <a:lstStyle/>
          <a:p>
            <a:pPr marL="0" indent="0">
              <a:buNone/>
            </a:pPr>
            <a:r>
              <a:rPr lang="en-US" sz="850" dirty="0">
                <a:solidFill>
                  <a:srgbClr val="8B7765"/>
                </a:solidFill>
              </a:rPr>
              <a:t>RCMS Final Project Presentation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0" y="237744"/>
            <a:ext cx="12191695" cy="6858000"/>
          </a:xfrm>
          <a:prstGeom prst="rect">
            <a:avLst/>
          </a:prstGeom>
          <a:solidFill>
            <a:srgbClr val="F7F2EA"/>
          </a:solidFill>
          <a:ln w="12700">
            <a:solidFill>
              <a:srgbClr val="F7F2EA">
                <a:alpha val="0"/>
              </a:srgbClr>
            </a:solidFill>
            <a:prstDash val="solid"/>
          </a:ln>
        </p:spPr>
        <p:txBody>
          <a:bodyPr/>
          <a:lstStyle/>
          <a:p>
            <a:endParaRPr lang="en-US"/>
          </a:p>
        </p:txBody>
      </p:sp>
      <p:sp>
        <p:nvSpPr>
          <p:cNvPr id="3" name="Shape 1"/>
          <p:cNvSpPr/>
          <p:nvPr/>
        </p:nvSpPr>
        <p:spPr>
          <a:xfrm>
            <a:off x="0" y="0"/>
            <a:ext cx="12191695" cy="237744"/>
          </a:xfrm>
          <a:prstGeom prst="rect">
            <a:avLst/>
          </a:prstGeom>
          <a:solidFill>
            <a:srgbClr val="4B2E20"/>
          </a:solidFill>
          <a:ln w="12700">
            <a:solidFill>
              <a:srgbClr val="4B2E20">
                <a:alpha val="0"/>
              </a:srgbClr>
            </a:solidFill>
            <a:prstDash val="solid"/>
          </a:ln>
        </p:spPr>
        <p:txBody>
          <a:bodyPr/>
          <a:lstStyle/>
          <a:p>
            <a:endParaRPr lang="en-US"/>
          </a:p>
        </p:txBody>
      </p:sp>
      <p:sp>
        <p:nvSpPr>
          <p:cNvPr id="4" name="Text 2"/>
          <p:cNvSpPr/>
          <p:nvPr/>
        </p:nvSpPr>
        <p:spPr>
          <a:xfrm>
            <a:off x="530352" y="438912"/>
            <a:ext cx="8412480" cy="411480"/>
          </a:xfrm>
          <a:prstGeom prst="rect">
            <a:avLst/>
          </a:prstGeom>
          <a:noFill/>
          <a:ln/>
        </p:spPr>
        <p:txBody>
          <a:bodyPr wrap="square" lIns="0" tIns="0" rIns="0" bIns="0"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Prototype demo: navigation and order workflow</a:t>
            </a:r>
            <a:endParaRPr lang="en-US" sz="2400" dirty="0"/>
          </a:p>
        </p:txBody>
      </p:sp>
      <p:sp>
        <p:nvSpPr>
          <p:cNvPr id="5" name="Text 3"/>
          <p:cNvSpPr/>
          <p:nvPr/>
        </p:nvSpPr>
        <p:spPr>
          <a:xfrm>
            <a:off x="548640" y="932688"/>
            <a:ext cx="8778240" cy="256032"/>
          </a:xfrm>
          <a:prstGeom prst="rect">
            <a:avLst/>
          </a:prstGeom>
          <a:noFill/>
          <a:ln/>
        </p:spPr>
        <p:txBody>
          <a:bodyPr wrap="square" lIns="0" tIns="0" rIns="0" bIns="0" rtlCol="0" anchor="ctr"/>
          <a:lstStyle/>
          <a:p>
            <a:pPr marL="0" indent="0">
              <a:buNone/>
            </a:pPr>
            <a:r>
              <a:rPr lang="en-US" sz="1050" dirty="0">
                <a:solidFill>
                  <a:srgbClr val="64748B"/>
                </a:solidFill>
              </a:rPr>
              <a:t>The prototype includes at least four functional forms and a simple user flow</a:t>
            </a:r>
            <a:endParaRPr lang="en-US" sz="1050" dirty="0"/>
          </a:p>
        </p:txBody>
      </p:sp>
      <p:sp>
        <p:nvSpPr>
          <p:cNvPr id="6" name="Text 4"/>
          <p:cNvSpPr/>
          <p:nvPr/>
        </p:nvSpPr>
        <p:spPr>
          <a:xfrm>
            <a:off x="10899648" y="502920"/>
            <a:ext cx="685800" cy="310896"/>
          </a:xfrm>
          <a:prstGeom prst="rect">
            <a:avLst/>
          </a:prstGeom>
          <a:noFill/>
          <a:ln/>
        </p:spPr>
        <p:txBody>
          <a:bodyPr wrap="square" lIns="0" tIns="0" rIns="0" bIns="0" rtlCol="0" anchor="ctr"/>
          <a:lstStyle/>
          <a:p>
            <a:pPr marL="0" indent="0" algn="r">
              <a:buNone/>
            </a:pPr>
            <a:r>
              <a:rPr lang="en-US" sz="1200" b="1" dirty="0">
                <a:solidFill>
                  <a:srgbClr val="C9823C"/>
                </a:solidFill>
              </a:rPr>
              <a:t>10</a:t>
            </a:r>
            <a:endParaRPr lang="en-US" sz="1200" dirty="0"/>
          </a:p>
        </p:txBody>
      </p:sp>
      <p:sp>
        <p:nvSpPr>
          <p:cNvPr id="7" name="Shape 5"/>
          <p:cNvSpPr/>
          <p:nvPr/>
        </p:nvSpPr>
        <p:spPr>
          <a:xfrm>
            <a:off x="548640" y="1115568"/>
            <a:ext cx="11064240" cy="0"/>
          </a:xfrm>
          <a:prstGeom prst="line">
            <a:avLst/>
          </a:prstGeom>
          <a:noFill/>
          <a:ln w="12700">
            <a:solidFill>
              <a:srgbClr val="D7C7B6"/>
            </a:solidFill>
            <a:prstDash val="solid"/>
          </a:ln>
        </p:spPr>
        <p:txBody>
          <a:bodyPr/>
          <a:lstStyle/>
          <a:p>
            <a:endParaRPr lang="en-US"/>
          </a:p>
        </p:txBody>
      </p:sp>
      <p:sp>
        <p:nvSpPr>
          <p:cNvPr id="8" name="Text 6"/>
          <p:cNvSpPr/>
          <p:nvPr/>
        </p:nvSpPr>
        <p:spPr>
          <a:xfrm>
            <a:off x="685800" y="1417320"/>
            <a:ext cx="1005840" cy="411480"/>
          </a:xfrm>
          <a:prstGeom prst="rect">
            <a:avLst/>
          </a:prstGeom>
          <a:solidFill>
            <a:srgbClr val="4B2E20"/>
          </a:solidFill>
          <a:ln w="12700">
            <a:solidFill>
              <a:srgbClr val="4B2E20"/>
            </a:solidFill>
          </a:ln>
        </p:spPr>
        <p:txBody>
          <a:bodyPr wrap="square" lIns="1397" tIns="1397" rIns="1397" bIns="1397"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Login</a:t>
            </a:r>
            <a:endParaRPr lang="en-US" sz="1300" dirty="0"/>
          </a:p>
        </p:txBody>
      </p:sp>
      <p:sp>
        <p:nvSpPr>
          <p:cNvPr id="9" name="Shape 7"/>
          <p:cNvSpPr/>
          <p:nvPr/>
        </p:nvSpPr>
        <p:spPr>
          <a:xfrm>
            <a:off x="1700784" y="1627632"/>
            <a:ext cx="621792" cy="0"/>
          </a:xfrm>
          <a:prstGeom prst="line">
            <a:avLst/>
          </a:prstGeom>
          <a:noFill/>
          <a:ln w="25400">
            <a:solidFill>
              <a:srgbClr val="C9823C"/>
            </a:solidFill>
            <a:prstDash val="solid"/>
            <a:tailEnd type="triangle"/>
          </a:ln>
        </p:spPr>
        <p:txBody>
          <a:bodyPr/>
          <a:lstStyle/>
          <a:p>
            <a:endParaRPr lang="en-US"/>
          </a:p>
        </p:txBody>
      </p:sp>
      <p:sp>
        <p:nvSpPr>
          <p:cNvPr id="10" name="Text 8"/>
          <p:cNvSpPr/>
          <p:nvPr/>
        </p:nvSpPr>
        <p:spPr>
          <a:xfrm>
            <a:off x="2359152" y="1417320"/>
            <a:ext cx="1417320" cy="411480"/>
          </a:xfrm>
          <a:prstGeom prst="rect">
            <a:avLst/>
          </a:prstGeom>
          <a:solidFill>
            <a:srgbClr val="6F8F4E"/>
          </a:solidFill>
          <a:ln w="12700">
            <a:solidFill>
              <a:srgbClr val="6F8F4E"/>
            </a:solidFill>
          </a:ln>
        </p:spPr>
        <p:txBody>
          <a:bodyPr wrap="square" lIns="1397" tIns="1397" rIns="1397" bIns="1397"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Dashboard</a:t>
            </a:r>
            <a:endParaRPr lang="en-US" sz="1300" dirty="0"/>
          </a:p>
        </p:txBody>
      </p:sp>
      <p:sp>
        <p:nvSpPr>
          <p:cNvPr id="11" name="Shape 9"/>
          <p:cNvSpPr/>
          <p:nvPr/>
        </p:nvSpPr>
        <p:spPr>
          <a:xfrm>
            <a:off x="3813048" y="1627632"/>
            <a:ext cx="621792" cy="0"/>
          </a:xfrm>
          <a:prstGeom prst="line">
            <a:avLst/>
          </a:prstGeom>
          <a:noFill/>
          <a:ln w="25400">
            <a:solidFill>
              <a:srgbClr val="C9823C"/>
            </a:solidFill>
            <a:prstDash val="solid"/>
            <a:tailEnd type="triangle"/>
          </a:ln>
        </p:spPr>
        <p:txBody>
          <a:bodyPr/>
          <a:lstStyle/>
          <a:p>
            <a:endParaRPr lang="en-US"/>
          </a:p>
        </p:txBody>
      </p:sp>
      <p:sp>
        <p:nvSpPr>
          <p:cNvPr id="12" name="Text 10"/>
          <p:cNvSpPr/>
          <p:nvPr/>
        </p:nvSpPr>
        <p:spPr>
          <a:xfrm>
            <a:off x="4480560" y="1417320"/>
            <a:ext cx="1600200" cy="411480"/>
          </a:xfrm>
          <a:prstGeom prst="rect">
            <a:avLst/>
          </a:prstGeom>
          <a:solidFill>
            <a:srgbClr val="1E4A72"/>
          </a:solidFill>
          <a:ln w="12700">
            <a:solidFill>
              <a:srgbClr val="1E4A72"/>
            </a:solidFill>
          </a:ln>
        </p:spPr>
        <p:txBody>
          <a:bodyPr wrap="square" lIns="1397" tIns="1397" rIns="1397" bIns="1397"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Order Form</a:t>
            </a:r>
            <a:endParaRPr lang="en-US" sz="1300" dirty="0"/>
          </a:p>
        </p:txBody>
      </p:sp>
      <p:sp>
        <p:nvSpPr>
          <p:cNvPr id="13" name="Text 11"/>
          <p:cNvSpPr/>
          <p:nvPr/>
        </p:nvSpPr>
        <p:spPr>
          <a:xfrm>
            <a:off x="731520" y="2240280"/>
            <a:ext cx="3108960" cy="347472"/>
          </a:xfrm>
          <a:prstGeom prst="rect">
            <a:avLst/>
          </a:prstGeom>
          <a:solidFill>
            <a:srgbClr val="6F8F4E"/>
          </a:solidFill>
          <a:ln>
            <a:solidFill>
              <a:srgbClr val="6F8F4E"/>
            </a:solidFill>
          </a:ln>
        </p:spPr>
        <p:txBody>
          <a:bodyPr wrap="square" lIns="381" tIns="381" rIns="381" bIns="381" rtlCol="0" anchor="ctr">
            <a:normAutofit/>
          </a:bodyPr>
          <a:lstStyle/>
          <a:p>
            <a:pPr marL="0" indent="0" algn="ctr">
              <a:buNone/>
            </a:pPr>
            <a:r>
              <a:rPr lang="en-US" sz="1250" b="1" dirty="0">
                <a:solidFill>
                  <a:srgbClr val="FFFFFF"/>
                </a:solidFill>
              </a:rPr>
              <a:t>Dashboard Form</a:t>
            </a:r>
            <a:endParaRPr lang="en-US" sz="1250" dirty="0"/>
          </a:p>
        </p:txBody>
      </p:sp>
      <p:sp>
        <p:nvSpPr>
          <p:cNvPr id="14" name="Text 12"/>
          <p:cNvSpPr/>
          <p:nvPr/>
        </p:nvSpPr>
        <p:spPr>
          <a:xfrm>
            <a:off x="731520" y="2587752"/>
            <a:ext cx="3108960" cy="2898648"/>
          </a:xfrm>
          <a:prstGeom prst="rect">
            <a:avLst/>
          </a:prstGeom>
          <a:solidFill>
            <a:srgbClr val="FFFFFF"/>
          </a:solidFill>
          <a:ln w="10160">
            <a:solidFill>
              <a:srgbClr val="CFC6BA"/>
            </a:solidFill>
          </a:ln>
        </p:spPr>
        <p:txBody>
          <a:bodyPr wrap="square" lIns="0" tIns="0" rIns="0" bIns="0" rtlCol="0" anchor="ctr"/>
          <a:lstStyle/>
          <a:p>
            <a:pPr marL="0" indent="0">
              <a:buNone/>
            </a:pPr>
            <a:endParaRPr lang="en-US" dirty="0"/>
          </a:p>
        </p:txBody>
      </p:sp>
      <p:sp>
        <p:nvSpPr>
          <p:cNvPr id="15" name="Text 13"/>
          <p:cNvSpPr/>
          <p:nvPr/>
        </p:nvSpPr>
        <p:spPr>
          <a:xfrm>
            <a:off x="868680" y="2770632"/>
            <a:ext cx="1181405" cy="201168"/>
          </a:xfrm>
          <a:prstGeom prst="rect">
            <a:avLst/>
          </a:prstGeom>
          <a:noFill/>
          <a:ln/>
        </p:spPr>
        <p:txBody>
          <a:bodyPr wrap="square" lIns="0" tIns="0" rIns="0" bIns="0" rtlCol="0" anchor="ctr"/>
          <a:lstStyle/>
          <a:p>
            <a:pPr marL="0" indent="0">
              <a:buNone/>
            </a:pPr>
            <a:r>
              <a:rPr lang="en-US" sz="880" dirty="0">
                <a:solidFill>
                  <a:srgbClr val="64748B"/>
                </a:solidFill>
              </a:rPr>
              <a:t>Today's orders</a:t>
            </a:r>
            <a:endParaRPr lang="en-US" sz="880" dirty="0"/>
          </a:p>
        </p:txBody>
      </p:sp>
      <p:sp>
        <p:nvSpPr>
          <p:cNvPr id="16" name="Text 14"/>
          <p:cNvSpPr/>
          <p:nvPr/>
        </p:nvSpPr>
        <p:spPr>
          <a:xfrm>
            <a:off x="2099462" y="2752344"/>
            <a:ext cx="1336853"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24</a:t>
            </a:r>
            <a:endParaRPr lang="en-US" sz="860" dirty="0"/>
          </a:p>
        </p:txBody>
      </p:sp>
      <p:sp>
        <p:nvSpPr>
          <p:cNvPr id="17" name="Text 15"/>
          <p:cNvSpPr/>
          <p:nvPr/>
        </p:nvSpPr>
        <p:spPr>
          <a:xfrm>
            <a:off x="868680" y="3099816"/>
            <a:ext cx="1181405" cy="201168"/>
          </a:xfrm>
          <a:prstGeom prst="rect">
            <a:avLst/>
          </a:prstGeom>
          <a:noFill/>
          <a:ln/>
        </p:spPr>
        <p:txBody>
          <a:bodyPr wrap="square" lIns="0" tIns="0" rIns="0" bIns="0" rtlCol="0" anchor="ctr"/>
          <a:lstStyle/>
          <a:p>
            <a:pPr marL="0" indent="0">
              <a:buNone/>
            </a:pPr>
            <a:r>
              <a:rPr lang="en-US" sz="880" dirty="0">
                <a:solidFill>
                  <a:srgbClr val="64748B"/>
                </a:solidFill>
              </a:rPr>
              <a:t>Low stock</a:t>
            </a:r>
            <a:endParaRPr lang="en-US" sz="880" dirty="0"/>
          </a:p>
        </p:txBody>
      </p:sp>
      <p:sp>
        <p:nvSpPr>
          <p:cNvPr id="18" name="Text 16"/>
          <p:cNvSpPr/>
          <p:nvPr/>
        </p:nvSpPr>
        <p:spPr>
          <a:xfrm>
            <a:off x="2099462" y="3081528"/>
            <a:ext cx="1336853"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4 items</a:t>
            </a:r>
            <a:endParaRPr lang="en-US" sz="860" dirty="0"/>
          </a:p>
        </p:txBody>
      </p:sp>
      <p:sp>
        <p:nvSpPr>
          <p:cNvPr id="19" name="Text 17"/>
          <p:cNvSpPr/>
          <p:nvPr/>
        </p:nvSpPr>
        <p:spPr>
          <a:xfrm>
            <a:off x="868680" y="3429000"/>
            <a:ext cx="1181405" cy="201168"/>
          </a:xfrm>
          <a:prstGeom prst="rect">
            <a:avLst/>
          </a:prstGeom>
          <a:noFill/>
          <a:ln/>
        </p:spPr>
        <p:txBody>
          <a:bodyPr wrap="square" lIns="0" tIns="0" rIns="0" bIns="0" rtlCol="0" anchor="ctr"/>
          <a:lstStyle/>
          <a:p>
            <a:pPr marL="0" indent="0">
              <a:buNone/>
            </a:pPr>
            <a:r>
              <a:rPr lang="en-US" sz="880" dirty="0">
                <a:solidFill>
                  <a:srgbClr val="64748B"/>
                </a:solidFill>
              </a:rPr>
              <a:t>Next shift</a:t>
            </a:r>
            <a:endParaRPr lang="en-US" sz="880" dirty="0"/>
          </a:p>
        </p:txBody>
      </p:sp>
      <p:sp>
        <p:nvSpPr>
          <p:cNvPr id="20" name="Text 18"/>
          <p:cNvSpPr/>
          <p:nvPr/>
        </p:nvSpPr>
        <p:spPr>
          <a:xfrm>
            <a:off x="2099462" y="3410712"/>
            <a:ext cx="1336853"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2:00 PM</a:t>
            </a:r>
            <a:endParaRPr lang="en-US" sz="860" dirty="0"/>
          </a:p>
        </p:txBody>
      </p:sp>
      <p:sp>
        <p:nvSpPr>
          <p:cNvPr id="21" name="Text 19"/>
          <p:cNvSpPr/>
          <p:nvPr/>
        </p:nvSpPr>
        <p:spPr>
          <a:xfrm>
            <a:off x="868680" y="3758184"/>
            <a:ext cx="1181405" cy="201168"/>
          </a:xfrm>
          <a:prstGeom prst="rect">
            <a:avLst/>
          </a:prstGeom>
          <a:noFill/>
          <a:ln/>
        </p:spPr>
        <p:txBody>
          <a:bodyPr wrap="square" lIns="0" tIns="0" rIns="0" bIns="0" rtlCol="0" anchor="ctr"/>
          <a:lstStyle/>
          <a:p>
            <a:pPr marL="0" indent="0">
              <a:buNone/>
            </a:pPr>
            <a:r>
              <a:rPr lang="en-US" sz="880" dirty="0">
                <a:solidFill>
                  <a:srgbClr val="64748B"/>
                </a:solidFill>
              </a:rPr>
              <a:t>Reports</a:t>
            </a:r>
            <a:endParaRPr lang="en-US" sz="880" dirty="0"/>
          </a:p>
        </p:txBody>
      </p:sp>
      <p:sp>
        <p:nvSpPr>
          <p:cNvPr id="22" name="Text 20"/>
          <p:cNvSpPr/>
          <p:nvPr/>
        </p:nvSpPr>
        <p:spPr>
          <a:xfrm>
            <a:off x="2099462" y="3739896"/>
            <a:ext cx="1336853"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Owner view</a:t>
            </a:r>
            <a:endParaRPr lang="en-US" sz="860" dirty="0"/>
          </a:p>
        </p:txBody>
      </p:sp>
      <p:sp>
        <p:nvSpPr>
          <p:cNvPr id="23" name="Text 21"/>
          <p:cNvSpPr/>
          <p:nvPr/>
        </p:nvSpPr>
        <p:spPr>
          <a:xfrm>
            <a:off x="859536" y="5157216"/>
            <a:ext cx="2852928" cy="219456"/>
          </a:xfrm>
          <a:prstGeom prst="rect">
            <a:avLst/>
          </a:prstGeom>
          <a:noFill/>
          <a:ln/>
        </p:spPr>
        <p:txBody>
          <a:bodyPr wrap="square" lIns="0" tIns="0" rIns="0" bIns="0" rtlCol="0" anchor="ctr">
            <a:normAutofit/>
          </a:bodyPr>
          <a:lstStyle/>
          <a:p>
            <a:pPr marL="0" indent="0" algn="ctr">
              <a:buNone/>
            </a:pPr>
            <a:r>
              <a:rPr lang="en-US" sz="850" b="1" dirty="0">
                <a:solidFill>
                  <a:srgbClr val="6F8F4E"/>
                </a:solidFill>
              </a:rPr>
              <a:t>Buttons: Orders • Inventory • Schedule • Reports</a:t>
            </a:r>
            <a:endParaRPr lang="en-US" sz="850" dirty="0"/>
          </a:p>
        </p:txBody>
      </p:sp>
      <p:sp>
        <p:nvSpPr>
          <p:cNvPr id="24" name="Text 22"/>
          <p:cNvSpPr/>
          <p:nvPr/>
        </p:nvSpPr>
        <p:spPr>
          <a:xfrm>
            <a:off x="4434840" y="2240280"/>
            <a:ext cx="3246120" cy="347472"/>
          </a:xfrm>
          <a:prstGeom prst="rect">
            <a:avLst/>
          </a:prstGeom>
          <a:solidFill>
            <a:srgbClr val="1E4A72"/>
          </a:solidFill>
          <a:ln>
            <a:solidFill>
              <a:srgbClr val="1E4A72"/>
            </a:solidFill>
          </a:ln>
        </p:spPr>
        <p:txBody>
          <a:bodyPr wrap="square" lIns="381" tIns="381" rIns="381" bIns="381" rtlCol="0" anchor="ctr">
            <a:normAutofit/>
          </a:bodyPr>
          <a:lstStyle/>
          <a:p>
            <a:pPr marL="0" indent="0" algn="ctr">
              <a:buNone/>
            </a:pPr>
            <a:r>
              <a:rPr lang="en-US" sz="1250" b="1" dirty="0">
                <a:solidFill>
                  <a:srgbClr val="FFFFFF"/>
                </a:solidFill>
              </a:rPr>
              <a:t>Order Entry Form</a:t>
            </a:r>
            <a:endParaRPr lang="en-US" sz="1250" dirty="0"/>
          </a:p>
        </p:txBody>
      </p:sp>
      <p:sp>
        <p:nvSpPr>
          <p:cNvPr id="25" name="Text 23"/>
          <p:cNvSpPr/>
          <p:nvPr/>
        </p:nvSpPr>
        <p:spPr>
          <a:xfrm>
            <a:off x="4434840" y="2587752"/>
            <a:ext cx="3246120" cy="2898648"/>
          </a:xfrm>
          <a:prstGeom prst="rect">
            <a:avLst/>
          </a:prstGeom>
          <a:solidFill>
            <a:srgbClr val="FFFFFF"/>
          </a:solidFill>
          <a:ln w="10160">
            <a:solidFill>
              <a:srgbClr val="CFC6BA"/>
            </a:solidFill>
          </a:ln>
        </p:spPr>
        <p:txBody>
          <a:bodyPr wrap="square" lIns="0" tIns="0" rIns="0" bIns="0" rtlCol="0" anchor="ctr"/>
          <a:lstStyle/>
          <a:p>
            <a:pPr marL="0" indent="0">
              <a:buNone/>
            </a:pPr>
            <a:endParaRPr lang="en-US" dirty="0"/>
          </a:p>
        </p:txBody>
      </p:sp>
      <p:sp>
        <p:nvSpPr>
          <p:cNvPr id="26" name="Text 24"/>
          <p:cNvSpPr/>
          <p:nvPr/>
        </p:nvSpPr>
        <p:spPr>
          <a:xfrm>
            <a:off x="4572000" y="2770632"/>
            <a:ext cx="1233526" cy="201168"/>
          </a:xfrm>
          <a:prstGeom prst="rect">
            <a:avLst/>
          </a:prstGeom>
          <a:noFill/>
          <a:ln/>
        </p:spPr>
        <p:txBody>
          <a:bodyPr wrap="square" lIns="0" tIns="0" rIns="0" bIns="0" rtlCol="0" anchor="ctr"/>
          <a:lstStyle/>
          <a:p>
            <a:pPr marL="0" indent="0">
              <a:buNone/>
            </a:pPr>
            <a:r>
              <a:rPr lang="en-US" sz="880" dirty="0">
                <a:solidFill>
                  <a:srgbClr val="64748B"/>
                </a:solidFill>
              </a:rPr>
              <a:t>Order ID</a:t>
            </a:r>
            <a:endParaRPr lang="en-US" sz="880" dirty="0"/>
          </a:p>
        </p:txBody>
      </p:sp>
      <p:sp>
        <p:nvSpPr>
          <p:cNvPr id="27" name="Text 25"/>
          <p:cNvSpPr/>
          <p:nvPr/>
        </p:nvSpPr>
        <p:spPr>
          <a:xfrm>
            <a:off x="5863133" y="2752344"/>
            <a:ext cx="139583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Auto number</a:t>
            </a:r>
            <a:endParaRPr lang="en-US" sz="860" dirty="0"/>
          </a:p>
        </p:txBody>
      </p:sp>
      <p:sp>
        <p:nvSpPr>
          <p:cNvPr id="28" name="Text 26"/>
          <p:cNvSpPr/>
          <p:nvPr/>
        </p:nvSpPr>
        <p:spPr>
          <a:xfrm>
            <a:off x="4572000" y="3099816"/>
            <a:ext cx="1233526" cy="201168"/>
          </a:xfrm>
          <a:prstGeom prst="rect">
            <a:avLst/>
          </a:prstGeom>
          <a:noFill/>
          <a:ln/>
        </p:spPr>
        <p:txBody>
          <a:bodyPr wrap="square" lIns="0" tIns="0" rIns="0" bIns="0" rtlCol="0" anchor="ctr"/>
          <a:lstStyle/>
          <a:p>
            <a:pPr marL="0" indent="0">
              <a:buNone/>
            </a:pPr>
            <a:r>
              <a:rPr lang="en-US" sz="880" dirty="0">
                <a:solidFill>
                  <a:srgbClr val="64748B"/>
                </a:solidFill>
              </a:rPr>
              <a:t>Employee</a:t>
            </a:r>
            <a:endParaRPr lang="en-US" sz="880" dirty="0"/>
          </a:p>
        </p:txBody>
      </p:sp>
      <p:sp>
        <p:nvSpPr>
          <p:cNvPr id="29" name="Text 27"/>
          <p:cNvSpPr/>
          <p:nvPr/>
        </p:nvSpPr>
        <p:spPr>
          <a:xfrm>
            <a:off x="5863133" y="3081528"/>
            <a:ext cx="139583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Barista name</a:t>
            </a:r>
            <a:endParaRPr lang="en-US" sz="860" dirty="0"/>
          </a:p>
        </p:txBody>
      </p:sp>
      <p:sp>
        <p:nvSpPr>
          <p:cNvPr id="30" name="Text 28"/>
          <p:cNvSpPr/>
          <p:nvPr/>
        </p:nvSpPr>
        <p:spPr>
          <a:xfrm>
            <a:off x="4572000" y="3429000"/>
            <a:ext cx="1233526" cy="201168"/>
          </a:xfrm>
          <a:prstGeom prst="rect">
            <a:avLst/>
          </a:prstGeom>
          <a:noFill/>
          <a:ln/>
        </p:spPr>
        <p:txBody>
          <a:bodyPr wrap="square" lIns="0" tIns="0" rIns="0" bIns="0" rtlCol="0" anchor="ctr"/>
          <a:lstStyle/>
          <a:p>
            <a:pPr marL="0" indent="0">
              <a:buNone/>
            </a:pPr>
            <a:r>
              <a:rPr lang="en-US" sz="880" dirty="0">
                <a:solidFill>
                  <a:srgbClr val="64748B"/>
                </a:solidFill>
              </a:rPr>
              <a:t>Menu item</a:t>
            </a:r>
            <a:endParaRPr lang="en-US" sz="880" dirty="0"/>
          </a:p>
        </p:txBody>
      </p:sp>
      <p:sp>
        <p:nvSpPr>
          <p:cNvPr id="31" name="Text 29"/>
          <p:cNvSpPr/>
          <p:nvPr/>
        </p:nvSpPr>
        <p:spPr>
          <a:xfrm>
            <a:off x="5863133" y="3410712"/>
            <a:ext cx="139583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Latte</a:t>
            </a:r>
            <a:endParaRPr lang="en-US" sz="860" dirty="0"/>
          </a:p>
        </p:txBody>
      </p:sp>
      <p:sp>
        <p:nvSpPr>
          <p:cNvPr id="32" name="Text 30"/>
          <p:cNvSpPr/>
          <p:nvPr/>
        </p:nvSpPr>
        <p:spPr>
          <a:xfrm>
            <a:off x="4572000" y="3758184"/>
            <a:ext cx="1233526" cy="201168"/>
          </a:xfrm>
          <a:prstGeom prst="rect">
            <a:avLst/>
          </a:prstGeom>
          <a:noFill/>
          <a:ln/>
        </p:spPr>
        <p:txBody>
          <a:bodyPr wrap="square" lIns="0" tIns="0" rIns="0" bIns="0" rtlCol="0" anchor="ctr"/>
          <a:lstStyle/>
          <a:p>
            <a:pPr marL="0" indent="0">
              <a:buNone/>
            </a:pPr>
            <a:r>
              <a:rPr lang="en-US" sz="880" dirty="0">
                <a:solidFill>
                  <a:srgbClr val="64748B"/>
                </a:solidFill>
              </a:rPr>
              <a:t>Quantity</a:t>
            </a:r>
            <a:endParaRPr lang="en-US" sz="880" dirty="0"/>
          </a:p>
        </p:txBody>
      </p:sp>
      <p:sp>
        <p:nvSpPr>
          <p:cNvPr id="33" name="Text 31"/>
          <p:cNvSpPr/>
          <p:nvPr/>
        </p:nvSpPr>
        <p:spPr>
          <a:xfrm>
            <a:off x="5863133" y="3739896"/>
            <a:ext cx="139583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2</a:t>
            </a:r>
            <a:endParaRPr lang="en-US" sz="860" dirty="0"/>
          </a:p>
        </p:txBody>
      </p:sp>
      <p:sp>
        <p:nvSpPr>
          <p:cNvPr id="34" name="Text 32"/>
          <p:cNvSpPr/>
          <p:nvPr/>
        </p:nvSpPr>
        <p:spPr>
          <a:xfrm>
            <a:off x="4572000" y="4087368"/>
            <a:ext cx="1233526" cy="201168"/>
          </a:xfrm>
          <a:prstGeom prst="rect">
            <a:avLst/>
          </a:prstGeom>
          <a:noFill/>
          <a:ln/>
        </p:spPr>
        <p:txBody>
          <a:bodyPr wrap="square" lIns="0" tIns="0" rIns="0" bIns="0" rtlCol="0" anchor="ctr"/>
          <a:lstStyle/>
          <a:p>
            <a:pPr marL="0" indent="0">
              <a:buNone/>
            </a:pPr>
            <a:r>
              <a:rPr lang="en-US" sz="880" dirty="0">
                <a:solidFill>
                  <a:srgbClr val="64748B"/>
                </a:solidFill>
              </a:rPr>
              <a:t>Status</a:t>
            </a:r>
            <a:endParaRPr lang="en-US" sz="880" dirty="0"/>
          </a:p>
        </p:txBody>
      </p:sp>
      <p:sp>
        <p:nvSpPr>
          <p:cNvPr id="35" name="Text 33"/>
          <p:cNvSpPr/>
          <p:nvPr/>
        </p:nvSpPr>
        <p:spPr>
          <a:xfrm>
            <a:off x="5863133" y="4069080"/>
            <a:ext cx="139583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Completed</a:t>
            </a:r>
            <a:endParaRPr lang="en-US" sz="860" dirty="0"/>
          </a:p>
        </p:txBody>
      </p:sp>
      <p:sp>
        <p:nvSpPr>
          <p:cNvPr id="36" name="Text 34"/>
          <p:cNvSpPr/>
          <p:nvPr/>
        </p:nvSpPr>
        <p:spPr>
          <a:xfrm>
            <a:off x="4562856" y="5157216"/>
            <a:ext cx="2990088" cy="219456"/>
          </a:xfrm>
          <a:prstGeom prst="rect">
            <a:avLst/>
          </a:prstGeom>
          <a:noFill/>
          <a:ln/>
        </p:spPr>
        <p:txBody>
          <a:bodyPr wrap="square" lIns="0" tIns="0" rIns="0" bIns="0" rtlCol="0" anchor="ctr">
            <a:normAutofit/>
          </a:bodyPr>
          <a:lstStyle/>
          <a:p>
            <a:pPr marL="0" indent="0" algn="ctr">
              <a:buNone/>
            </a:pPr>
            <a:r>
              <a:rPr lang="en-US" sz="850" b="1" dirty="0">
                <a:solidFill>
                  <a:srgbClr val="1E4A72"/>
                </a:solidFill>
              </a:rPr>
              <a:t>Save order and update status</a:t>
            </a:r>
            <a:endParaRPr lang="en-US" sz="850" dirty="0"/>
          </a:p>
        </p:txBody>
      </p:sp>
      <p:sp>
        <p:nvSpPr>
          <p:cNvPr id="37" name="Text 35"/>
          <p:cNvSpPr/>
          <p:nvPr/>
        </p:nvSpPr>
        <p:spPr>
          <a:xfrm>
            <a:off x="8138160" y="2240280"/>
            <a:ext cx="3108960" cy="347472"/>
          </a:xfrm>
          <a:prstGeom prst="rect">
            <a:avLst/>
          </a:prstGeom>
          <a:solidFill>
            <a:srgbClr val="C9823C"/>
          </a:solidFill>
          <a:ln>
            <a:solidFill>
              <a:srgbClr val="C9823C"/>
            </a:solidFill>
          </a:ln>
        </p:spPr>
        <p:txBody>
          <a:bodyPr wrap="square" lIns="381" tIns="381" rIns="381" bIns="381" rtlCol="0" anchor="ctr">
            <a:normAutofit/>
          </a:bodyPr>
          <a:lstStyle/>
          <a:p>
            <a:pPr marL="0" indent="0" algn="ctr">
              <a:buNone/>
            </a:pPr>
            <a:r>
              <a:rPr lang="en-US" sz="1250" b="1" dirty="0">
                <a:solidFill>
                  <a:srgbClr val="FFFFFF"/>
                </a:solidFill>
              </a:rPr>
              <a:t>Order Items Subform</a:t>
            </a:r>
            <a:endParaRPr lang="en-US" sz="1250" dirty="0"/>
          </a:p>
        </p:txBody>
      </p:sp>
      <p:sp>
        <p:nvSpPr>
          <p:cNvPr id="38" name="Text 36"/>
          <p:cNvSpPr/>
          <p:nvPr/>
        </p:nvSpPr>
        <p:spPr>
          <a:xfrm>
            <a:off x="8138160" y="2587752"/>
            <a:ext cx="3108960" cy="2898648"/>
          </a:xfrm>
          <a:prstGeom prst="rect">
            <a:avLst/>
          </a:prstGeom>
          <a:solidFill>
            <a:srgbClr val="FFFFFF"/>
          </a:solidFill>
          <a:ln w="10160">
            <a:solidFill>
              <a:srgbClr val="CFC6BA"/>
            </a:solidFill>
          </a:ln>
        </p:spPr>
        <p:txBody>
          <a:bodyPr wrap="square" lIns="0" tIns="0" rIns="0" bIns="0" rtlCol="0" anchor="ctr"/>
          <a:lstStyle/>
          <a:p>
            <a:pPr marL="0" indent="0">
              <a:buNone/>
            </a:pPr>
            <a:endParaRPr lang="en-US" dirty="0"/>
          </a:p>
        </p:txBody>
      </p:sp>
      <p:sp>
        <p:nvSpPr>
          <p:cNvPr id="39" name="Text 37"/>
          <p:cNvSpPr/>
          <p:nvPr/>
        </p:nvSpPr>
        <p:spPr>
          <a:xfrm>
            <a:off x="8275320" y="2770632"/>
            <a:ext cx="1181405" cy="201168"/>
          </a:xfrm>
          <a:prstGeom prst="rect">
            <a:avLst/>
          </a:prstGeom>
          <a:noFill/>
          <a:ln/>
        </p:spPr>
        <p:txBody>
          <a:bodyPr wrap="square" lIns="0" tIns="0" rIns="0" bIns="0" rtlCol="0" anchor="ctr"/>
          <a:lstStyle/>
          <a:p>
            <a:pPr marL="0" indent="0">
              <a:buNone/>
            </a:pPr>
            <a:r>
              <a:rPr lang="en-US" sz="880" dirty="0">
                <a:solidFill>
                  <a:srgbClr val="64748B"/>
                </a:solidFill>
              </a:rPr>
              <a:t>Product</a:t>
            </a:r>
            <a:endParaRPr lang="en-US" sz="880" dirty="0"/>
          </a:p>
        </p:txBody>
      </p:sp>
      <p:sp>
        <p:nvSpPr>
          <p:cNvPr id="40" name="Text 38"/>
          <p:cNvSpPr/>
          <p:nvPr/>
        </p:nvSpPr>
        <p:spPr>
          <a:xfrm>
            <a:off x="9506102" y="2752344"/>
            <a:ext cx="1336853"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Cappuccino</a:t>
            </a:r>
            <a:endParaRPr lang="en-US" sz="860" dirty="0"/>
          </a:p>
        </p:txBody>
      </p:sp>
      <p:sp>
        <p:nvSpPr>
          <p:cNvPr id="41" name="Text 39"/>
          <p:cNvSpPr/>
          <p:nvPr/>
        </p:nvSpPr>
        <p:spPr>
          <a:xfrm>
            <a:off x="8275320" y="3099816"/>
            <a:ext cx="1181405" cy="201168"/>
          </a:xfrm>
          <a:prstGeom prst="rect">
            <a:avLst/>
          </a:prstGeom>
          <a:noFill/>
          <a:ln/>
        </p:spPr>
        <p:txBody>
          <a:bodyPr wrap="square" lIns="0" tIns="0" rIns="0" bIns="0" rtlCol="0" anchor="ctr"/>
          <a:lstStyle/>
          <a:p>
            <a:pPr marL="0" indent="0">
              <a:buNone/>
            </a:pPr>
            <a:r>
              <a:rPr lang="en-US" sz="880" dirty="0">
                <a:solidFill>
                  <a:srgbClr val="64748B"/>
                </a:solidFill>
              </a:rPr>
              <a:t>Price</a:t>
            </a:r>
            <a:endParaRPr lang="en-US" sz="880" dirty="0"/>
          </a:p>
        </p:txBody>
      </p:sp>
      <p:sp>
        <p:nvSpPr>
          <p:cNvPr id="42" name="Text 40"/>
          <p:cNvSpPr/>
          <p:nvPr/>
        </p:nvSpPr>
        <p:spPr>
          <a:xfrm>
            <a:off x="9506102" y="3081528"/>
            <a:ext cx="1336853"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$3.20</a:t>
            </a:r>
            <a:endParaRPr lang="en-US" sz="860" dirty="0"/>
          </a:p>
        </p:txBody>
      </p:sp>
      <p:sp>
        <p:nvSpPr>
          <p:cNvPr id="43" name="Text 41"/>
          <p:cNvSpPr/>
          <p:nvPr/>
        </p:nvSpPr>
        <p:spPr>
          <a:xfrm>
            <a:off x="8275320" y="3429000"/>
            <a:ext cx="1181405" cy="201168"/>
          </a:xfrm>
          <a:prstGeom prst="rect">
            <a:avLst/>
          </a:prstGeom>
          <a:noFill/>
          <a:ln/>
        </p:spPr>
        <p:txBody>
          <a:bodyPr wrap="square" lIns="0" tIns="0" rIns="0" bIns="0" rtlCol="0" anchor="ctr"/>
          <a:lstStyle/>
          <a:p>
            <a:pPr marL="0" indent="0">
              <a:buNone/>
            </a:pPr>
            <a:r>
              <a:rPr lang="en-US" sz="880" dirty="0">
                <a:solidFill>
                  <a:srgbClr val="64748B"/>
                </a:solidFill>
              </a:rPr>
              <a:t>Qty</a:t>
            </a:r>
            <a:endParaRPr lang="en-US" sz="880" dirty="0"/>
          </a:p>
        </p:txBody>
      </p:sp>
      <p:sp>
        <p:nvSpPr>
          <p:cNvPr id="44" name="Text 42"/>
          <p:cNvSpPr/>
          <p:nvPr/>
        </p:nvSpPr>
        <p:spPr>
          <a:xfrm>
            <a:off x="9506102" y="3410712"/>
            <a:ext cx="1336853"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1</a:t>
            </a:r>
            <a:endParaRPr lang="en-US" sz="860" dirty="0"/>
          </a:p>
        </p:txBody>
      </p:sp>
      <p:sp>
        <p:nvSpPr>
          <p:cNvPr id="45" name="Text 43"/>
          <p:cNvSpPr/>
          <p:nvPr/>
        </p:nvSpPr>
        <p:spPr>
          <a:xfrm>
            <a:off x="8275320" y="3758184"/>
            <a:ext cx="1181405" cy="201168"/>
          </a:xfrm>
          <a:prstGeom prst="rect">
            <a:avLst/>
          </a:prstGeom>
          <a:noFill/>
          <a:ln/>
        </p:spPr>
        <p:txBody>
          <a:bodyPr wrap="square" lIns="0" tIns="0" rIns="0" bIns="0" rtlCol="0" anchor="ctr"/>
          <a:lstStyle/>
          <a:p>
            <a:pPr marL="0" indent="0">
              <a:buNone/>
            </a:pPr>
            <a:r>
              <a:rPr lang="en-US" sz="880" dirty="0">
                <a:solidFill>
                  <a:srgbClr val="64748B"/>
                </a:solidFill>
              </a:rPr>
              <a:t>Subtotal</a:t>
            </a:r>
            <a:endParaRPr lang="en-US" sz="880" dirty="0"/>
          </a:p>
        </p:txBody>
      </p:sp>
      <p:sp>
        <p:nvSpPr>
          <p:cNvPr id="46" name="Text 44"/>
          <p:cNvSpPr/>
          <p:nvPr/>
        </p:nvSpPr>
        <p:spPr>
          <a:xfrm>
            <a:off x="9506102" y="3739896"/>
            <a:ext cx="1336853"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$3.20</a:t>
            </a:r>
            <a:endParaRPr lang="en-US" sz="860" dirty="0"/>
          </a:p>
        </p:txBody>
      </p:sp>
      <p:sp>
        <p:nvSpPr>
          <p:cNvPr id="47" name="Text 45"/>
          <p:cNvSpPr/>
          <p:nvPr/>
        </p:nvSpPr>
        <p:spPr>
          <a:xfrm>
            <a:off x="8275320" y="4087368"/>
            <a:ext cx="1181405" cy="201168"/>
          </a:xfrm>
          <a:prstGeom prst="rect">
            <a:avLst/>
          </a:prstGeom>
          <a:noFill/>
          <a:ln/>
        </p:spPr>
        <p:txBody>
          <a:bodyPr wrap="square" lIns="0" tIns="0" rIns="0" bIns="0" rtlCol="0" anchor="ctr"/>
          <a:lstStyle/>
          <a:p>
            <a:pPr marL="0" indent="0">
              <a:buNone/>
            </a:pPr>
            <a:r>
              <a:rPr lang="en-US" sz="880" dirty="0">
                <a:solidFill>
                  <a:srgbClr val="64748B"/>
                </a:solidFill>
              </a:rPr>
              <a:t>Payment</a:t>
            </a:r>
            <a:endParaRPr lang="en-US" sz="880" dirty="0"/>
          </a:p>
        </p:txBody>
      </p:sp>
      <p:sp>
        <p:nvSpPr>
          <p:cNvPr id="48" name="Text 46"/>
          <p:cNvSpPr/>
          <p:nvPr/>
        </p:nvSpPr>
        <p:spPr>
          <a:xfrm>
            <a:off x="9506102" y="4069080"/>
            <a:ext cx="1336853"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Cash/Card</a:t>
            </a:r>
            <a:endParaRPr lang="en-US" sz="860" dirty="0"/>
          </a:p>
        </p:txBody>
      </p:sp>
      <p:sp>
        <p:nvSpPr>
          <p:cNvPr id="49" name="Text 47"/>
          <p:cNvSpPr/>
          <p:nvPr/>
        </p:nvSpPr>
        <p:spPr>
          <a:xfrm>
            <a:off x="8266176" y="5157216"/>
            <a:ext cx="2852928" cy="219456"/>
          </a:xfrm>
          <a:prstGeom prst="rect">
            <a:avLst/>
          </a:prstGeom>
          <a:noFill/>
          <a:ln/>
        </p:spPr>
        <p:txBody>
          <a:bodyPr wrap="square" lIns="0" tIns="0" rIns="0" bIns="0" rtlCol="0" anchor="ctr">
            <a:normAutofit/>
          </a:bodyPr>
          <a:lstStyle/>
          <a:p>
            <a:pPr marL="0" indent="0" algn="ctr">
              <a:buNone/>
            </a:pPr>
            <a:r>
              <a:rPr lang="en-US" sz="850" b="1" dirty="0">
                <a:solidFill>
                  <a:srgbClr val="C9823C"/>
                </a:solidFill>
              </a:rPr>
              <a:t>Supports order totals</a:t>
            </a:r>
            <a:endParaRPr lang="en-US" sz="850" dirty="0"/>
          </a:p>
        </p:txBody>
      </p:sp>
      <p:sp>
        <p:nvSpPr>
          <p:cNvPr id="50" name="Text 48"/>
          <p:cNvSpPr/>
          <p:nvPr/>
        </p:nvSpPr>
        <p:spPr>
          <a:xfrm>
            <a:off x="914400" y="5833872"/>
            <a:ext cx="10424160" cy="347472"/>
          </a:xfrm>
          <a:prstGeom prst="rect">
            <a:avLst/>
          </a:prstGeom>
          <a:noFill/>
          <a:ln/>
        </p:spPr>
        <p:txBody>
          <a:bodyPr wrap="square" lIns="0" tIns="0" rIns="0" bIns="0" rtlCol="0" anchor="ctr"/>
          <a:lstStyle/>
          <a:p>
            <a:pPr marL="0" indent="0" algn="ctr">
              <a:buNone/>
            </a:pPr>
            <a:r>
              <a:rPr lang="en-US" sz="1500" b="1" dirty="0">
                <a:solidFill>
                  <a:srgbClr val="4B2E20"/>
                </a:solidFill>
              </a:rPr>
              <a:t>Demo steps: log in → open dashboard → create order → add items → save status</a:t>
            </a:r>
            <a:endParaRPr lang="en-US" sz="1500" dirty="0"/>
          </a:p>
        </p:txBody>
      </p:sp>
      <p:sp>
        <p:nvSpPr>
          <p:cNvPr id="51" name="Text 49"/>
          <p:cNvSpPr/>
          <p:nvPr/>
        </p:nvSpPr>
        <p:spPr>
          <a:xfrm>
            <a:off x="548640" y="6565392"/>
            <a:ext cx="3840480" cy="164592"/>
          </a:xfrm>
          <a:prstGeom prst="rect">
            <a:avLst/>
          </a:prstGeom>
          <a:noFill/>
          <a:ln/>
        </p:spPr>
        <p:txBody>
          <a:bodyPr wrap="square" lIns="0" tIns="0" rIns="0" bIns="0" rtlCol="0" anchor="ctr"/>
          <a:lstStyle/>
          <a:p>
            <a:pPr marL="0" indent="0">
              <a:buNone/>
            </a:pPr>
            <a:r>
              <a:rPr lang="en-US" sz="850" dirty="0">
                <a:solidFill>
                  <a:srgbClr val="8B7765"/>
                </a:solidFill>
              </a:rPr>
              <a:t>RCMS Final Project Presentation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2EA"/>
          </a:solidFill>
          <a:ln w="12700">
            <a:solidFill>
              <a:srgbClr val="F7F2EA">
                <a:alpha val="0"/>
              </a:srgbClr>
            </a:solidFill>
            <a:prstDash val="solid"/>
          </a:ln>
        </p:spPr>
        <p:txBody>
          <a:bodyPr/>
          <a:lstStyle/>
          <a:p>
            <a:endParaRPr lang="en-US"/>
          </a:p>
        </p:txBody>
      </p:sp>
      <p:sp>
        <p:nvSpPr>
          <p:cNvPr id="3" name="Shape 1"/>
          <p:cNvSpPr/>
          <p:nvPr/>
        </p:nvSpPr>
        <p:spPr>
          <a:xfrm>
            <a:off x="0" y="0"/>
            <a:ext cx="12191695" cy="237744"/>
          </a:xfrm>
          <a:prstGeom prst="rect">
            <a:avLst/>
          </a:prstGeom>
          <a:solidFill>
            <a:srgbClr val="4B2E20"/>
          </a:solidFill>
          <a:ln w="12700">
            <a:solidFill>
              <a:srgbClr val="4B2E20">
                <a:alpha val="0"/>
              </a:srgbClr>
            </a:solidFill>
            <a:prstDash val="solid"/>
          </a:ln>
        </p:spPr>
        <p:txBody>
          <a:bodyPr/>
          <a:lstStyle/>
          <a:p>
            <a:endParaRPr lang="en-US"/>
          </a:p>
        </p:txBody>
      </p:sp>
      <p:sp>
        <p:nvSpPr>
          <p:cNvPr id="4" name="Text 2"/>
          <p:cNvSpPr/>
          <p:nvPr/>
        </p:nvSpPr>
        <p:spPr>
          <a:xfrm>
            <a:off x="530352" y="438912"/>
            <a:ext cx="8412480" cy="411480"/>
          </a:xfrm>
          <a:prstGeom prst="rect">
            <a:avLst/>
          </a:prstGeom>
          <a:noFill/>
          <a:ln/>
        </p:spPr>
        <p:txBody>
          <a:bodyPr wrap="square" lIns="0" tIns="0" rIns="0" bIns="0"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Prototype demo: inventory, schedule, and reports</a:t>
            </a:r>
            <a:endParaRPr lang="en-US" sz="2400" dirty="0"/>
          </a:p>
        </p:txBody>
      </p:sp>
      <p:sp>
        <p:nvSpPr>
          <p:cNvPr id="5" name="Text 3"/>
          <p:cNvSpPr/>
          <p:nvPr/>
        </p:nvSpPr>
        <p:spPr>
          <a:xfrm>
            <a:off x="548640" y="932688"/>
            <a:ext cx="8778240" cy="256032"/>
          </a:xfrm>
          <a:prstGeom prst="rect">
            <a:avLst/>
          </a:prstGeom>
          <a:noFill/>
          <a:ln/>
        </p:spPr>
        <p:txBody>
          <a:bodyPr wrap="square" lIns="0" tIns="0" rIns="0" bIns="0" rtlCol="0" anchor="ctr"/>
          <a:lstStyle/>
          <a:p>
            <a:pPr marL="0" indent="0">
              <a:buNone/>
            </a:pPr>
            <a:r>
              <a:rPr lang="en-US" sz="1050" dirty="0">
                <a:solidFill>
                  <a:srgbClr val="64748B"/>
                </a:solidFill>
              </a:rPr>
              <a:t>The prototype forms support daily management and owner decision-making</a:t>
            </a:r>
            <a:endParaRPr lang="en-US" sz="1050" dirty="0"/>
          </a:p>
        </p:txBody>
      </p:sp>
      <p:sp>
        <p:nvSpPr>
          <p:cNvPr id="6" name="Text 4"/>
          <p:cNvSpPr/>
          <p:nvPr/>
        </p:nvSpPr>
        <p:spPr>
          <a:xfrm>
            <a:off x="10899648" y="502920"/>
            <a:ext cx="685800" cy="310896"/>
          </a:xfrm>
          <a:prstGeom prst="rect">
            <a:avLst/>
          </a:prstGeom>
          <a:noFill/>
          <a:ln/>
        </p:spPr>
        <p:txBody>
          <a:bodyPr wrap="square" lIns="0" tIns="0" rIns="0" bIns="0" rtlCol="0" anchor="ctr"/>
          <a:lstStyle/>
          <a:p>
            <a:pPr marL="0" indent="0" algn="r">
              <a:buNone/>
            </a:pPr>
            <a:r>
              <a:rPr lang="en-US" sz="1200" b="1" dirty="0">
                <a:solidFill>
                  <a:srgbClr val="C9823C"/>
                </a:solidFill>
              </a:rPr>
              <a:t>11</a:t>
            </a:r>
            <a:endParaRPr lang="en-US" sz="1200" dirty="0"/>
          </a:p>
        </p:txBody>
      </p:sp>
      <p:sp>
        <p:nvSpPr>
          <p:cNvPr id="7" name="Shape 5"/>
          <p:cNvSpPr/>
          <p:nvPr/>
        </p:nvSpPr>
        <p:spPr>
          <a:xfrm>
            <a:off x="548640" y="1115568"/>
            <a:ext cx="11064240" cy="0"/>
          </a:xfrm>
          <a:prstGeom prst="line">
            <a:avLst/>
          </a:prstGeom>
          <a:noFill/>
          <a:ln w="12700">
            <a:solidFill>
              <a:srgbClr val="D7C7B6"/>
            </a:solidFill>
            <a:prstDash val="solid"/>
          </a:ln>
        </p:spPr>
        <p:txBody>
          <a:bodyPr/>
          <a:lstStyle/>
          <a:p>
            <a:endParaRPr lang="en-US"/>
          </a:p>
        </p:txBody>
      </p:sp>
      <p:sp>
        <p:nvSpPr>
          <p:cNvPr id="8" name="Text 6"/>
          <p:cNvSpPr/>
          <p:nvPr/>
        </p:nvSpPr>
        <p:spPr>
          <a:xfrm>
            <a:off x="685800" y="1325880"/>
            <a:ext cx="3154680" cy="347472"/>
          </a:xfrm>
          <a:prstGeom prst="rect">
            <a:avLst/>
          </a:prstGeom>
          <a:solidFill>
            <a:srgbClr val="6F8F4E"/>
          </a:solidFill>
          <a:ln>
            <a:solidFill>
              <a:srgbClr val="6F8F4E"/>
            </a:solidFill>
          </a:ln>
        </p:spPr>
        <p:txBody>
          <a:bodyPr wrap="square" lIns="381" tIns="381" rIns="381" bIns="381" rtlCol="0" anchor="ctr">
            <a:normAutofit/>
          </a:bodyPr>
          <a:lstStyle/>
          <a:p>
            <a:pPr marL="0" indent="0" algn="ctr">
              <a:buNone/>
            </a:pPr>
            <a:r>
              <a:rPr lang="en-US" sz="1250" b="1" dirty="0">
                <a:solidFill>
                  <a:srgbClr val="FFFFFF"/>
                </a:solidFill>
              </a:rPr>
              <a:t>Inventory Form</a:t>
            </a:r>
            <a:endParaRPr lang="en-US" sz="1250" dirty="0"/>
          </a:p>
        </p:txBody>
      </p:sp>
      <p:sp>
        <p:nvSpPr>
          <p:cNvPr id="9" name="Text 7"/>
          <p:cNvSpPr/>
          <p:nvPr/>
        </p:nvSpPr>
        <p:spPr>
          <a:xfrm>
            <a:off x="685800" y="1673352"/>
            <a:ext cx="3154680" cy="3721608"/>
          </a:xfrm>
          <a:prstGeom prst="rect">
            <a:avLst/>
          </a:prstGeom>
          <a:solidFill>
            <a:srgbClr val="FFFFFF"/>
          </a:solidFill>
          <a:ln w="10160">
            <a:solidFill>
              <a:srgbClr val="CFC6BA"/>
            </a:solidFill>
          </a:ln>
        </p:spPr>
        <p:txBody>
          <a:bodyPr wrap="square" lIns="0" tIns="0" rIns="0" bIns="0" rtlCol="0" anchor="ctr"/>
          <a:lstStyle/>
          <a:p>
            <a:pPr marL="0" indent="0">
              <a:buNone/>
            </a:pPr>
            <a:endParaRPr lang="en-US" dirty="0"/>
          </a:p>
        </p:txBody>
      </p:sp>
      <p:sp>
        <p:nvSpPr>
          <p:cNvPr id="10" name="Text 8"/>
          <p:cNvSpPr/>
          <p:nvPr/>
        </p:nvSpPr>
        <p:spPr>
          <a:xfrm>
            <a:off x="822960" y="1856232"/>
            <a:ext cx="1198778" cy="201168"/>
          </a:xfrm>
          <a:prstGeom prst="rect">
            <a:avLst/>
          </a:prstGeom>
          <a:noFill/>
          <a:ln/>
        </p:spPr>
        <p:txBody>
          <a:bodyPr wrap="square" lIns="0" tIns="0" rIns="0" bIns="0" rtlCol="0" anchor="ctr"/>
          <a:lstStyle/>
          <a:p>
            <a:pPr marL="0" indent="0">
              <a:buNone/>
            </a:pPr>
            <a:r>
              <a:rPr lang="en-US" sz="880" dirty="0">
                <a:solidFill>
                  <a:srgbClr val="64748B"/>
                </a:solidFill>
              </a:rPr>
              <a:t>Product ID</a:t>
            </a:r>
            <a:endParaRPr lang="en-US" sz="880" dirty="0"/>
          </a:p>
        </p:txBody>
      </p:sp>
      <p:sp>
        <p:nvSpPr>
          <p:cNvPr id="11" name="Text 9"/>
          <p:cNvSpPr/>
          <p:nvPr/>
        </p:nvSpPr>
        <p:spPr>
          <a:xfrm>
            <a:off x="2073859" y="1837944"/>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Auto number</a:t>
            </a:r>
            <a:endParaRPr lang="en-US" sz="860" dirty="0"/>
          </a:p>
        </p:txBody>
      </p:sp>
      <p:sp>
        <p:nvSpPr>
          <p:cNvPr id="12" name="Text 10"/>
          <p:cNvSpPr/>
          <p:nvPr/>
        </p:nvSpPr>
        <p:spPr>
          <a:xfrm>
            <a:off x="822960" y="2185416"/>
            <a:ext cx="1198778" cy="201168"/>
          </a:xfrm>
          <a:prstGeom prst="rect">
            <a:avLst/>
          </a:prstGeom>
          <a:noFill/>
          <a:ln/>
        </p:spPr>
        <p:txBody>
          <a:bodyPr wrap="square" lIns="0" tIns="0" rIns="0" bIns="0" rtlCol="0" anchor="ctr"/>
          <a:lstStyle/>
          <a:p>
            <a:pPr marL="0" indent="0">
              <a:buNone/>
            </a:pPr>
            <a:r>
              <a:rPr lang="en-US" sz="880" dirty="0">
                <a:solidFill>
                  <a:srgbClr val="64748B"/>
                </a:solidFill>
              </a:rPr>
              <a:t>Product name</a:t>
            </a:r>
            <a:endParaRPr lang="en-US" sz="880" dirty="0"/>
          </a:p>
        </p:txBody>
      </p:sp>
      <p:sp>
        <p:nvSpPr>
          <p:cNvPr id="13" name="Text 11"/>
          <p:cNvSpPr/>
          <p:nvPr/>
        </p:nvSpPr>
        <p:spPr>
          <a:xfrm>
            <a:off x="2073859" y="2167128"/>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Espresso beans</a:t>
            </a:r>
            <a:endParaRPr lang="en-US" sz="860" dirty="0"/>
          </a:p>
        </p:txBody>
      </p:sp>
      <p:sp>
        <p:nvSpPr>
          <p:cNvPr id="14" name="Text 12"/>
          <p:cNvSpPr/>
          <p:nvPr/>
        </p:nvSpPr>
        <p:spPr>
          <a:xfrm>
            <a:off x="822960" y="2514600"/>
            <a:ext cx="1198778" cy="201168"/>
          </a:xfrm>
          <a:prstGeom prst="rect">
            <a:avLst/>
          </a:prstGeom>
          <a:noFill/>
          <a:ln/>
        </p:spPr>
        <p:txBody>
          <a:bodyPr wrap="square" lIns="0" tIns="0" rIns="0" bIns="0" rtlCol="0" anchor="ctr"/>
          <a:lstStyle/>
          <a:p>
            <a:pPr marL="0" indent="0">
              <a:buNone/>
            </a:pPr>
            <a:r>
              <a:rPr lang="en-US" sz="880" dirty="0">
                <a:solidFill>
                  <a:srgbClr val="64748B"/>
                </a:solidFill>
              </a:rPr>
              <a:t>Category</a:t>
            </a:r>
            <a:endParaRPr lang="en-US" sz="880" dirty="0"/>
          </a:p>
        </p:txBody>
      </p:sp>
      <p:sp>
        <p:nvSpPr>
          <p:cNvPr id="15" name="Text 13"/>
          <p:cNvSpPr/>
          <p:nvPr/>
        </p:nvSpPr>
        <p:spPr>
          <a:xfrm>
            <a:off x="2073859" y="2496312"/>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Ingredient</a:t>
            </a:r>
            <a:endParaRPr lang="en-US" sz="860" dirty="0"/>
          </a:p>
        </p:txBody>
      </p:sp>
      <p:sp>
        <p:nvSpPr>
          <p:cNvPr id="16" name="Text 14"/>
          <p:cNvSpPr/>
          <p:nvPr/>
        </p:nvSpPr>
        <p:spPr>
          <a:xfrm>
            <a:off x="822960" y="2843784"/>
            <a:ext cx="1198778" cy="201168"/>
          </a:xfrm>
          <a:prstGeom prst="rect">
            <a:avLst/>
          </a:prstGeom>
          <a:noFill/>
          <a:ln/>
        </p:spPr>
        <p:txBody>
          <a:bodyPr wrap="square" lIns="0" tIns="0" rIns="0" bIns="0" rtlCol="0" anchor="ctr"/>
          <a:lstStyle/>
          <a:p>
            <a:pPr marL="0" indent="0">
              <a:buNone/>
            </a:pPr>
            <a:r>
              <a:rPr lang="en-US" sz="880" dirty="0">
                <a:solidFill>
                  <a:srgbClr val="64748B"/>
                </a:solidFill>
              </a:rPr>
              <a:t>Stock level</a:t>
            </a:r>
            <a:endParaRPr lang="en-US" sz="880" dirty="0"/>
          </a:p>
        </p:txBody>
      </p:sp>
      <p:sp>
        <p:nvSpPr>
          <p:cNvPr id="17" name="Text 15"/>
          <p:cNvSpPr/>
          <p:nvPr/>
        </p:nvSpPr>
        <p:spPr>
          <a:xfrm>
            <a:off x="2073859" y="2825496"/>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12</a:t>
            </a:r>
            <a:endParaRPr lang="en-US" sz="860" dirty="0"/>
          </a:p>
        </p:txBody>
      </p:sp>
      <p:sp>
        <p:nvSpPr>
          <p:cNvPr id="18" name="Text 16"/>
          <p:cNvSpPr/>
          <p:nvPr/>
        </p:nvSpPr>
        <p:spPr>
          <a:xfrm>
            <a:off x="822960" y="3172968"/>
            <a:ext cx="1198778" cy="201168"/>
          </a:xfrm>
          <a:prstGeom prst="rect">
            <a:avLst/>
          </a:prstGeom>
          <a:noFill/>
          <a:ln/>
        </p:spPr>
        <p:txBody>
          <a:bodyPr wrap="square" lIns="0" tIns="0" rIns="0" bIns="0" rtlCol="0" anchor="ctr"/>
          <a:lstStyle/>
          <a:p>
            <a:pPr marL="0" indent="0">
              <a:buNone/>
            </a:pPr>
            <a:r>
              <a:rPr lang="en-US" sz="880" dirty="0">
                <a:solidFill>
                  <a:srgbClr val="64748B"/>
                </a:solidFill>
              </a:rPr>
              <a:t>Reorder point</a:t>
            </a:r>
            <a:endParaRPr lang="en-US" sz="880" dirty="0"/>
          </a:p>
        </p:txBody>
      </p:sp>
      <p:sp>
        <p:nvSpPr>
          <p:cNvPr id="19" name="Text 17"/>
          <p:cNvSpPr/>
          <p:nvPr/>
        </p:nvSpPr>
        <p:spPr>
          <a:xfrm>
            <a:off x="2073859" y="3154680"/>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15</a:t>
            </a:r>
            <a:endParaRPr lang="en-US" sz="860" dirty="0"/>
          </a:p>
        </p:txBody>
      </p:sp>
      <p:sp>
        <p:nvSpPr>
          <p:cNvPr id="20" name="Text 18"/>
          <p:cNvSpPr/>
          <p:nvPr/>
        </p:nvSpPr>
        <p:spPr>
          <a:xfrm>
            <a:off x="822960" y="3502152"/>
            <a:ext cx="1198778" cy="201168"/>
          </a:xfrm>
          <a:prstGeom prst="rect">
            <a:avLst/>
          </a:prstGeom>
          <a:noFill/>
          <a:ln/>
        </p:spPr>
        <p:txBody>
          <a:bodyPr wrap="square" lIns="0" tIns="0" rIns="0" bIns="0" rtlCol="0" anchor="ctr"/>
          <a:lstStyle/>
          <a:p>
            <a:pPr marL="0" indent="0">
              <a:buNone/>
            </a:pPr>
            <a:r>
              <a:rPr lang="en-US" sz="880" dirty="0">
                <a:solidFill>
                  <a:srgbClr val="64748B"/>
                </a:solidFill>
              </a:rPr>
              <a:t>Price</a:t>
            </a:r>
            <a:endParaRPr lang="en-US" sz="880" dirty="0"/>
          </a:p>
        </p:txBody>
      </p:sp>
      <p:sp>
        <p:nvSpPr>
          <p:cNvPr id="21" name="Text 19"/>
          <p:cNvSpPr/>
          <p:nvPr/>
        </p:nvSpPr>
        <p:spPr>
          <a:xfrm>
            <a:off x="2073859" y="3483864"/>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$14.00</a:t>
            </a:r>
            <a:endParaRPr lang="en-US" sz="860" dirty="0"/>
          </a:p>
        </p:txBody>
      </p:sp>
      <p:sp>
        <p:nvSpPr>
          <p:cNvPr id="22" name="Text 20"/>
          <p:cNvSpPr/>
          <p:nvPr/>
        </p:nvSpPr>
        <p:spPr>
          <a:xfrm>
            <a:off x="813816" y="5065776"/>
            <a:ext cx="2898648" cy="219456"/>
          </a:xfrm>
          <a:prstGeom prst="rect">
            <a:avLst/>
          </a:prstGeom>
          <a:noFill/>
          <a:ln/>
        </p:spPr>
        <p:txBody>
          <a:bodyPr wrap="square" lIns="0" tIns="0" rIns="0" bIns="0" rtlCol="0" anchor="ctr">
            <a:normAutofit fontScale="92500"/>
          </a:bodyPr>
          <a:lstStyle/>
          <a:p>
            <a:pPr marL="0" indent="0" algn="ctr">
              <a:buNone/>
            </a:pPr>
            <a:r>
              <a:rPr lang="en-US" sz="850" b="1" dirty="0">
                <a:solidFill>
                  <a:srgbClr val="6F8F4E"/>
                </a:solidFill>
              </a:rPr>
              <a:t>Low-stock alert appears when stock is below reorder point</a:t>
            </a:r>
            <a:endParaRPr lang="en-US" sz="850" dirty="0"/>
          </a:p>
        </p:txBody>
      </p:sp>
      <p:sp>
        <p:nvSpPr>
          <p:cNvPr id="23" name="Text 21"/>
          <p:cNvSpPr/>
          <p:nvPr/>
        </p:nvSpPr>
        <p:spPr>
          <a:xfrm>
            <a:off x="4526280" y="1325880"/>
            <a:ext cx="3154680" cy="347472"/>
          </a:xfrm>
          <a:prstGeom prst="rect">
            <a:avLst/>
          </a:prstGeom>
          <a:solidFill>
            <a:srgbClr val="1E4A72"/>
          </a:solidFill>
          <a:ln>
            <a:solidFill>
              <a:srgbClr val="1E4A72"/>
            </a:solidFill>
          </a:ln>
        </p:spPr>
        <p:txBody>
          <a:bodyPr wrap="square" lIns="381" tIns="381" rIns="381" bIns="381" rtlCol="0" anchor="ctr">
            <a:normAutofit/>
          </a:bodyPr>
          <a:lstStyle/>
          <a:p>
            <a:pPr marL="0" indent="0" algn="ctr">
              <a:buNone/>
            </a:pPr>
            <a:r>
              <a:rPr lang="en-US" sz="1250" b="1" dirty="0">
                <a:solidFill>
                  <a:srgbClr val="FFFFFF"/>
                </a:solidFill>
              </a:rPr>
              <a:t>Schedule Form</a:t>
            </a:r>
            <a:endParaRPr lang="en-US" sz="1250" dirty="0"/>
          </a:p>
        </p:txBody>
      </p:sp>
      <p:sp>
        <p:nvSpPr>
          <p:cNvPr id="24" name="Text 22"/>
          <p:cNvSpPr/>
          <p:nvPr/>
        </p:nvSpPr>
        <p:spPr>
          <a:xfrm>
            <a:off x="4526280" y="1673352"/>
            <a:ext cx="3154680" cy="3721608"/>
          </a:xfrm>
          <a:prstGeom prst="rect">
            <a:avLst/>
          </a:prstGeom>
          <a:solidFill>
            <a:srgbClr val="FFFFFF"/>
          </a:solidFill>
          <a:ln w="10160">
            <a:solidFill>
              <a:srgbClr val="CFC6BA"/>
            </a:solidFill>
          </a:ln>
        </p:spPr>
        <p:txBody>
          <a:bodyPr wrap="square" lIns="0" tIns="0" rIns="0" bIns="0" rtlCol="0" anchor="ctr"/>
          <a:lstStyle/>
          <a:p>
            <a:pPr marL="0" indent="0">
              <a:buNone/>
            </a:pPr>
            <a:endParaRPr lang="en-US" dirty="0"/>
          </a:p>
        </p:txBody>
      </p:sp>
      <p:sp>
        <p:nvSpPr>
          <p:cNvPr id="25" name="Text 23"/>
          <p:cNvSpPr/>
          <p:nvPr/>
        </p:nvSpPr>
        <p:spPr>
          <a:xfrm>
            <a:off x="4663440" y="1856232"/>
            <a:ext cx="1198778" cy="201168"/>
          </a:xfrm>
          <a:prstGeom prst="rect">
            <a:avLst/>
          </a:prstGeom>
          <a:noFill/>
          <a:ln/>
        </p:spPr>
        <p:txBody>
          <a:bodyPr wrap="square" lIns="0" tIns="0" rIns="0" bIns="0" rtlCol="0" anchor="ctr"/>
          <a:lstStyle/>
          <a:p>
            <a:pPr marL="0" indent="0">
              <a:buNone/>
            </a:pPr>
            <a:r>
              <a:rPr lang="en-US" sz="880" dirty="0">
                <a:solidFill>
                  <a:srgbClr val="64748B"/>
                </a:solidFill>
              </a:rPr>
              <a:t>Employee</a:t>
            </a:r>
            <a:endParaRPr lang="en-US" sz="880" dirty="0"/>
          </a:p>
        </p:txBody>
      </p:sp>
      <p:sp>
        <p:nvSpPr>
          <p:cNvPr id="26" name="Text 24"/>
          <p:cNvSpPr/>
          <p:nvPr/>
        </p:nvSpPr>
        <p:spPr>
          <a:xfrm>
            <a:off x="5914339" y="1837944"/>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A. Barista</a:t>
            </a:r>
            <a:endParaRPr lang="en-US" sz="860" dirty="0"/>
          </a:p>
        </p:txBody>
      </p:sp>
      <p:sp>
        <p:nvSpPr>
          <p:cNvPr id="27" name="Text 25"/>
          <p:cNvSpPr/>
          <p:nvPr/>
        </p:nvSpPr>
        <p:spPr>
          <a:xfrm>
            <a:off x="4663440" y="2185416"/>
            <a:ext cx="1198778" cy="201168"/>
          </a:xfrm>
          <a:prstGeom prst="rect">
            <a:avLst/>
          </a:prstGeom>
          <a:noFill/>
          <a:ln/>
        </p:spPr>
        <p:txBody>
          <a:bodyPr wrap="square" lIns="0" tIns="0" rIns="0" bIns="0" rtlCol="0" anchor="ctr"/>
          <a:lstStyle/>
          <a:p>
            <a:pPr marL="0" indent="0">
              <a:buNone/>
            </a:pPr>
            <a:r>
              <a:rPr lang="en-US" sz="880" dirty="0">
                <a:solidFill>
                  <a:srgbClr val="64748B"/>
                </a:solidFill>
              </a:rPr>
              <a:t>Date</a:t>
            </a:r>
            <a:endParaRPr lang="en-US" sz="880" dirty="0"/>
          </a:p>
        </p:txBody>
      </p:sp>
      <p:sp>
        <p:nvSpPr>
          <p:cNvPr id="28" name="Text 26"/>
          <p:cNvSpPr/>
          <p:nvPr/>
        </p:nvSpPr>
        <p:spPr>
          <a:xfrm>
            <a:off x="5914339" y="2167128"/>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Monday</a:t>
            </a:r>
            <a:endParaRPr lang="en-US" sz="860" dirty="0"/>
          </a:p>
        </p:txBody>
      </p:sp>
      <p:sp>
        <p:nvSpPr>
          <p:cNvPr id="29" name="Text 27"/>
          <p:cNvSpPr/>
          <p:nvPr/>
        </p:nvSpPr>
        <p:spPr>
          <a:xfrm>
            <a:off x="4663440" y="2514600"/>
            <a:ext cx="1198778" cy="201168"/>
          </a:xfrm>
          <a:prstGeom prst="rect">
            <a:avLst/>
          </a:prstGeom>
          <a:noFill/>
          <a:ln/>
        </p:spPr>
        <p:txBody>
          <a:bodyPr wrap="square" lIns="0" tIns="0" rIns="0" bIns="0" rtlCol="0" anchor="ctr"/>
          <a:lstStyle/>
          <a:p>
            <a:pPr marL="0" indent="0">
              <a:buNone/>
            </a:pPr>
            <a:r>
              <a:rPr lang="en-US" sz="880" dirty="0">
                <a:solidFill>
                  <a:srgbClr val="64748B"/>
                </a:solidFill>
              </a:rPr>
              <a:t>Shift start</a:t>
            </a:r>
            <a:endParaRPr lang="en-US" sz="880" dirty="0"/>
          </a:p>
        </p:txBody>
      </p:sp>
      <p:sp>
        <p:nvSpPr>
          <p:cNvPr id="30" name="Text 28"/>
          <p:cNvSpPr/>
          <p:nvPr/>
        </p:nvSpPr>
        <p:spPr>
          <a:xfrm>
            <a:off x="5914339" y="2496312"/>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8:00 AM</a:t>
            </a:r>
            <a:endParaRPr lang="en-US" sz="860" dirty="0"/>
          </a:p>
        </p:txBody>
      </p:sp>
      <p:sp>
        <p:nvSpPr>
          <p:cNvPr id="31" name="Text 29"/>
          <p:cNvSpPr/>
          <p:nvPr/>
        </p:nvSpPr>
        <p:spPr>
          <a:xfrm>
            <a:off x="4663440" y="2843784"/>
            <a:ext cx="1198778" cy="201168"/>
          </a:xfrm>
          <a:prstGeom prst="rect">
            <a:avLst/>
          </a:prstGeom>
          <a:noFill/>
          <a:ln/>
        </p:spPr>
        <p:txBody>
          <a:bodyPr wrap="square" lIns="0" tIns="0" rIns="0" bIns="0" rtlCol="0" anchor="ctr"/>
          <a:lstStyle/>
          <a:p>
            <a:pPr marL="0" indent="0">
              <a:buNone/>
            </a:pPr>
            <a:r>
              <a:rPr lang="en-US" sz="880" dirty="0">
                <a:solidFill>
                  <a:srgbClr val="64748B"/>
                </a:solidFill>
              </a:rPr>
              <a:t>Shift end</a:t>
            </a:r>
            <a:endParaRPr lang="en-US" sz="880" dirty="0"/>
          </a:p>
        </p:txBody>
      </p:sp>
      <p:sp>
        <p:nvSpPr>
          <p:cNvPr id="32" name="Text 30"/>
          <p:cNvSpPr/>
          <p:nvPr/>
        </p:nvSpPr>
        <p:spPr>
          <a:xfrm>
            <a:off x="5914339" y="2825496"/>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2:00 PM</a:t>
            </a:r>
            <a:endParaRPr lang="en-US" sz="860" dirty="0"/>
          </a:p>
        </p:txBody>
      </p:sp>
      <p:sp>
        <p:nvSpPr>
          <p:cNvPr id="33" name="Text 31"/>
          <p:cNvSpPr/>
          <p:nvPr/>
        </p:nvSpPr>
        <p:spPr>
          <a:xfrm>
            <a:off x="4663440" y="3172968"/>
            <a:ext cx="1198778" cy="201168"/>
          </a:xfrm>
          <a:prstGeom prst="rect">
            <a:avLst/>
          </a:prstGeom>
          <a:noFill/>
          <a:ln/>
        </p:spPr>
        <p:txBody>
          <a:bodyPr wrap="square" lIns="0" tIns="0" rIns="0" bIns="0" rtlCol="0" anchor="ctr"/>
          <a:lstStyle/>
          <a:p>
            <a:pPr marL="0" indent="0">
              <a:buNone/>
            </a:pPr>
            <a:r>
              <a:rPr lang="en-US" sz="880" dirty="0">
                <a:solidFill>
                  <a:srgbClr val="64748B"/>
                </a:solidFill>
              </a:rPr>
              <a:t>Role</a:t>
            </a:r>
            <a:endParaRPr lang="en-US" sz="880" dirty="0"/>
          </a:p>
        </p:txBody>
      </p:sp>
      <p:sp>
        <p:nvSpPr>
          <p:cNvPr id="34" name="Text 32"/>
          <p:cNvSpPr/>
          <p:nvPr/>
        </p:nvSpPr>
        <p:spPr>
          <a:xfrm>
            <a:off x="5914339" y="3154680"/>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Barista</a:t>
            </a:r>
            <a:endParaRPr lang="en-US" sz="860" dirty="0"/>
          </a:p>
        </p:txBody>
      </p:sp>
      <p:sp>
        <p:nvSpPr>
          <p:cNvPr id="35" name="Text 33"/>
          <p:cNvSpPr/>
          <p:nvPr/>
        </p:nvSpPr>
        <p:spPr>
          <a:xfrm>
            <a:off x="4663440" y="3502152"/>
            <a:ext cx="1198778" cy="201168"/>
          </a:xfrm>
          <a:prstGeom prst="rect">
            <a:avLst/>
          </a:prstGeom>
          <a:noFill/>
          <a:ln/>
        </p:spPr>
        <p:txBody>
          <a:bodyPr wrap="square" lIns="0" tIns="0" rIns="0" bIns="0" rtlCol="0" anchor="ctr"/>
          <a:lstStyle/>
          <a:p>
            <a:pPr marL="0" indent="0">
              <a:buNone/>
            </a:pPr>
            <a:r>
              <a:rPr lang="en-US" sz="880" dirty="0">
                <a:solidFill>
                  <a:srgbClr val="64748B"/>
                </a:solidFill>
              </a:rPr>
              <a:t>Status</a:t>
            </a:r>
            <a:endParaRPr lang="en-US" sz="880" dirty="0"/>
          </a:p>
        </p:txBody>
      </p:sp>
      <p:sp>
        <p:nvSpPr>
          <p:cNvPr id="36" name="Text 34"/>
          <p:cNvSpPr/>
          <p:nvPr/>
        </p:nvSpPr>
        <p:spPr>
          <a:xfrm>
            <a:off x="5914339" y="3483864"/>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Assigned</a:t>
            </a:r>
            <a:endParaRPr lang="en-US" sz="860" dirty="0"/>
          </a:p>
        </p:txBody>
      </p:sp>
      <p:sp>
        <p:nvSpPr>
          <p:cNvPr id="37" name="Text 35"/>
          <p:cNvSpPr/>
          <p:nvPr/>
        </p:nvSpPr>
        <p:spPr>
          <a:xfrm>
            <a:off x="4654296" y="5065776"/>
            <a:ext cx="2898648" cy="219456"/>
          </a:xfrm>
          <a:prstGeom prst="rect">
            <a:avLst/>
          </a:prstGeom>
          <a:noFill/>
          <a:ln/>
        </p:spPr>
        <p:txBody>
          <a:bodyPr wrap="square" lIns="0" tIns="0" rIns="0" bIns="0" rtlCol="0" anchor="ctr">
            <a:normAutofit/>
          </a:bodyPr>
          <a:lstStyle/>
          <a:p>
            <a:pPr marL="0" indent="0" algn="ctr">
              <a:buNone/>
            </a:pPr>
            <a:r>
              <a:rPr lang="en-US" sz="850" b="1" dirty="0">
                <a:solidFill>
                  <a:srgbClr val="1E4A72"/>
                </a:solidFill>
              </a:rPr>
              <a:t>Manager creates and updates shifts</a:t>
            </a:r>
            <a:endParaRPr lang="en-US" sz="850" dirty="0"/>
          </a:p>
        </p:txBody>
      </p:sp>
      <p:sp>
        <p:nvSpPr>
          <p:cNvPr id="38" name="Text 36"/>
          <p:cNvSpPr/>
          <p:nvPr/>
        </p:nvSpPr>
        <p:spPr>
          <a:xfrm>
            <a:off x="8366760" y="1325880"/>
            <a:ext cx="3154680" cy="347472"/>
          </a:xfrm>
          <a:prstGeom prst="rect">
            <a:avLst/>
          </a:prstGeom>
          <a:solidFill>
            <a:srgbClr val="C9823C"/>
          </a:solidFill>
          <a:ln>
            <a:solidFill>
              <a:srgbClr val="C9823C"/>
            </a:solidFill>
          </a:ln>
        </p:spPr>
        <p:txBody>
          <a:bodyPr wrap="square" lIns="381" tIns="381" rIns="381" bIns="381" rtlCol="0" anchor="ctr">
            <a:normAutofit/>
          </a:bodyPr>
          <a:lstStyle/>
          <a:p>
            <a:pPr marL="0" indent="0" algn="ctr">
              <a:buNone/>
            </a:pPr>
            <a:r>
              <a:rPr lang="en-US" sz="1250" b="1" dirty="0">
                <a:solidFill>
                  <a:srgbClr val="FFFFFF"/>
                </a:solidFill>
              </a:rPr>
              <a:t>Report Form</a:t>
            </a:r>
            <a:endParaRPr lang="en-US" sz="1250" dirty="0"/>
          </a:p>
        </p:txBody>
      </p:sp>
      <p:sp>
        <p:nvSpPr>
          <p:cNvPr id="39" name="Text 37"/>
          <p:cNvSpPr/>
          <p:nvPr/>
        </p:nvSpPr>
        <p:spPr>
          <a:xfrm>
            <a:off x="8366760" y="1673352"/>
            <a:ext cx="3154680" cy="3721608"/>
          </a:xfrm>
          <a:prstGeom prst="rect">
            <a:avLst/>
          </a:prstGeom>
          <a:solidFill>
            <a:srgbClr val="FFFFFF"/>
          </a:solidFill>
          <a:ln w="10160">
            <a:solidFill>
              <a:srgbClr val="CFC6BA"/>
            </a:solidFill>
          </a:ln>
        </p:spPr>
        <p:txBody>
          <a:bodyPr wrap="square" lIns="0" tIns="0" rIns="0" bIns="0" rtlCol="0" anchor="ctr"/>
          <a:lstStyle/>
          <a:p>
            <a:pPr marL="0" indent="0">
              <a:buNone/>
            </a:pPr>
            <a:endParaRPr lang="en-US" dirty="0"/>
          </a:p>
        </p:txBody>
      </p:sp>
      <p:sp>
        <p:nvSpPr>
          <p:cNvPr id="40" name="Text 38"/>
          <p:cNvSpPr/>
          <p:nvPr/>
        </p:nvSpPr>
        <p:spPr>
          <a:xfrm>
            <a:off x="8503920" y="1856232"/>
            <a:ext cx="1198778" cy="201168"/>
          </a:xfrm>
          <a:prstGeom prst="rect">
            <a:avLst/>
          </a:prstGeom>
          <a:noFill/>
          <a:ln/>
        </p:spPr>
        <p:txBody>
          <a:bodyPr wrap="square" lIns="0" tIns="0" rIns="0" bIns="0" rtlCol="0" anchor="ctr"/>
          <a:lstStyle/>
          <a:p>
            <a:pPr marL="0" indent="0">
              <a:buNone/>
            </a:pPr>
            <a:r>
              <a:rPr lang="en-US" sz="880" dirty="0">
                <a:solidFill>
                  <a:srgbClr val="64748B"/>
                </a:solidFill>
              </a:rPr>
              <a:t>Report type</a:t>
            </a:r>
            <a:endParaRPr lang="en-US" sz="880" dirty="0"/>
          </a:p>
        </p:txBody>
      </p:sp>
      <p:sp>
        <p:nvSpPr>
          <p:cNvPr id="41" name="Text 39"/>
          <p:cNvSpPr/>
          <p:nvPr/>
        </p:nvSpPr>
        <p:spPr>
          <a:xfrm>
            <a:off x="9754819" y="1837944"/>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Daily sales</a:t>
            </a:r>
            <a:endParaRPr lang="en-US" sz="860" dirty="0"/>
          </a:p>
        </p:txBody>
      </p:sp>
      <p:sp>
        <p:nvSpPr>
          <p:cNvPr id="42" name="Text 40"/>
          <p:cNvSpPr/>
          <p:nvPr/>
        </p:nvSpPr>
        <p:spPr>
          <a:xfrm>
            <a:off x="8503920" y="2185416"/>
            <a:ext cx="1198778" cy="201168"/>
          </a:xfrm>
          <a:prstGeom prst="rect">
            <a:avLst/>
          </a:prstGeom>
          <a:noFill/>
          <a:ln/>
        </p:spPr>
        <p:txBody>
          <a:bodyPr wrap="square" lIns="0" tIns="0" rIns="0" bIns="0" rtlCol="0" anchor="ctr"/>
          <a:lstStyle/>
          <a:p>
            <a:pPr marL="0" indent="0">
              <a:buNone/>
            </a:pPr>
            <a:r>
              <a:rPr lang="en-US" sz="880" dirty="0">
                <a:solidFill>
                  <a:srgbClr val="64748B"/>
                </a:solidFill>
              </a:rPr>
              <a:t>Date range</a:t>
            </a:r>
            <a:endParaRPr lang="en-US" sz="880" dirty="0"/>
          </a:p>
        </p:txBody>
      </p:sp>
      <p:sp>
        <p:nvSpPr>
          <p:cNvPr id="43" name="Text 41"/>
          <p:cNvSpPr/>
          <p:nvPr/>
        </p:nvSpPr>
        <p:spPr>
          <a:xfrm>
            <a:off x="9754819" y="2167128"/>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This week</a:t>
            </a:r>
            <a:endParaRPr lang="en-US" sz="860" dirty="0"/>
          </a:p>
        </p:txBody>
      </p:sp>
      <p:sp>
        <p:nvSpPr>
          <p:cNvPr id="44" name="Text 42"/>
          <p:cNvSpPr/>
          <p:nvPr/>
        </p:nvSpPr>
        <p:spPr>
          <a:xfrm>
            <a:off x="8503920" y="2514600"/>
            <a:ext cx="1198778" cy="201168"/>
          </a:xfrm>
          <a:prstGeom prst="rect">
            <a:avLst/>
          </a:prstGeom>
          <a:noFill/>
          <a:ln/>
        </p:spPr>
        <p:txBody>
          <a:bodyPr wrap="square" lIns="0" tIns="0" rIns="0" bIns="0" rtlCol="0" anchor="ctr"/>
          <a:lstStyle/>
          <a:p>
            <a:pPr marL="0" indent="0">
              <a:buNone/>
            </a:pPr>
            <a:r>
              <a:rPr lang="en-US" sz="880" dirty="0">
                <a:solidFill>
                  <a:srgbClr val="64748B"/>
                </a:solidFill>
              </a:rPr>
              <a:t>Inventory</a:t>
            </a:r>
            <a:endParaRPr lang="en-US" sz="880" dirty="0"/>
          </a:p>
        </p:txBody>
      </p:sp>
      <p:sp>
        <p:nvSpPr>
          <p:cNvPr id="45" name="Text 43"/>
          <p:cNvSpPr/>
          <p:nvPr/>
        </p:nvSpPr>
        <p:spPr>
          <a:xfrm>
            <a:off x="9754819" y="2496312"/>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Low-stock list</a:t>
            </a:r>
            <a:endParaRPr lang="en-US" sz="860" dirty="0"/>
          </a:p>
        </p:txBody>
      </p:sp>
      <p:sp>
        <p:nvSpPr>
          <p:cNvPr id="46" name="Text 44"/>
          <p:cNvSpPr/>
          <p:nvPr/>
        </p:nvSpPr>
        <p:spPr>
          <a:xfrm>
            <a:off x="8503920" y="2843784"/>
            <a:ext cx="1198778" cy="201168"/>
          </a:xfrm>
          <a:prstGeom prst="rect">
            <a:avLst/>
          </a:prstGeom>
          <a:noFill/>
          <a:ln/>
        </p:spPr>
        <p:txBody>
          <a:bodyPr wrap="square" lIns="0" tIns="0" rIns="0" bIns="0" rtlCol="0" anchor="ctr"/>
          <a:lstStyle/>
          <a:p>
            <a:pPr marL="0" indent="0">
              <a:buNone/>
            </a:pPr>
            <a:r>
              <a:rPr lang="en-US" sz="880" dirty="0">
                <a:solidFill>
                  <a:srgbClr val="64748B"/>
                </a:solidFill>
              </a:rPr>
              <a:t>Employees</a:t>
            </a:r>
            <a:endParaRPr lang="en-US" sz="880" dirty="0"/>
          </a:p>
        </p:txBody>
      </p:sp>
      <p:sp>
        <p:nvSpPr>
          <p:cNvPr id="47" name="Text 45"/>
          <p:cNvSpPr/>
          <p:nvPr/>
        </p:nvSpPr>
        <p:spPr>
          <a:xfrm>
            <a:off x="9754819" y="2825496"/>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Hours worked</a:t>
            </a:r>
            <a:endParaRPr lang="en-US" sz="860" dirty="0"/>
          </a:p>
        </p:txBody>
      </p:sp>
      <p:sp>
        <p:nvSpPr>
          <p:cNvPr id="48" name="Text 46"/>
          <p:cNvSpPr/>
          <p:nvPr/>
        </p:nvSpPr>
        <p:spPr>
          <a:xfrm>
            <a:off x="8503920" y="3172968"/>
            <a:ext cx="1198778" cy="201168"/>
          </a:xfrm>
          <a:prstGeom prst="rect">
            <a:avLst/>
          </a:prstGeom>
          <a:noFill/>
          <a:ln/>
        </p:spPr>
        <p:txBody>
          <a:bodyPr wrap="square" lIns="0" tIns="0" rIns="0" bIns="0" rtlCol="0" anchor="ctr"/>
          <a:lstStyle/>
          <a:p>
            <a:pPr marL="0" indent="0">
              <a:buNone/>
            </a:pPr>
            <a:r>
              <a:rPr lang="en-US" sz="880" dirty="0">
                <a:solidFill>
                  <a:srgbClr val="64748B"/>
                </a:solidFill>
              </a:rPr>
              <a:t>Output</a:t>
            </a:r>
            <a:endParaRPr lang="en-US" sz="880" dirty="0"/>
          </a:p>
        </p:txBody>
      </p:sp>
      <p:sp>
        <p:nvSpPr>
          <p:cNvPr id="49" name="Text 47"/>
          <p:cNvSpPr/>
          <p:nvPr/>
        </p:nvSpPr>
        <p:spPr>
          <a:xfrm>
            <a:off x="9754819" y="3154680"/>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Preview/PDF</a:t>
            </a:r>
            <a:endParaRPr lang="en-US" sz="860" dirty="0"/>
          </a:p>
        </p:txBody>
      </p:sp>
      <p:sp>
        <p:nvSpPr>
          <p:cNvPr id="50" name="Text 48"/>
          <p:cNvSpPr/>
          <p:nvPr/>
        </p:nvSpPr>
        <p:spPr>
          <a:xfrm>
            <a:off x="8503920" y="3502152"/>
            <a:ext cx="1198778" cy="201168"/>
          </a:xfrm>
          <a:prstGeom prst="rect">
            <a:avLst/>
          </a:prstGeom>
          <a:noFill/>
          <a:ln/>
        </p:spPr>
        <p:txBody>
          <a:bodyPr wrap="square" lIns="0" tIns="0" rIns="0" bIns="0" rtlCol="0" anchor="ctr"/>
          <a:lstStyle/>
          <a:p>
            <a:pPr marL="0" indent="0">
              <a:buNone/>
            </a:pPr>
            <a:r>
              <a:rPr lang="en-US" sz="880" dirty="0">
                <a:solidFill>
                  <a:srgbClr val="64748B"/>
                </a:solidFill>
              </a:rPr>
              <a:t>Owner view</a:t>
            </a:r>
            <a:endParaRPr lang="en-US" sz="880" dirty="0"/>
          </a:p>
        </p:txBody>
      </p:sp>
      <p:sp>
        <p:nvSpPr>
          <p:cNvPr id="51" name="Text 49"/>
          <p:cNvSpPr/>
          <p:nvPr/>
        </p:nvSpPr>
        <p:spPr>
          <a:xfrm>
            <a:off x="9754819" y="3483864"/>
            <a:ext cx="1356512" cy="219456"/>
          </a:xfrm>
          <a:prstGeom prst="rect">
            <a:avLst/>
          </a:prstGeom>
          <a:solidFill>
            <a:srgbClr val="F6F4F1"/>
          </a:solidFill>
          <a:ln w="5080">
            <a:solidFill>
              <a:srgbClr val="E0D7CC"/>
            </a:solidFill>
          </a:ln>
        </p:spPr>
        <p:txBody>
          <a:bodyPr wrap="square" lIns="381" tIns="381" rIns="381" bIns="381" rtlCol="0" anchor="ctr">
            <a:normAutofit/>
          </a:bodyPr>
          <a:lstStyle/>
          <a:p>
            <a:pPr marL="0" indent="0">
              <a:buNone/>
            </a:pPr>
            <a:r>
              <a:rPr lang="en-US" sz="860" dirty="0">
                <a:solidFill>
                  <a:srgbClr val="111827"/>
                </a:solidFill>
              </a:rPr>
              <a:t>Enabled</a:t>
            </a:r>
            <a:endParaRPr lang="en-US" sz="860" dirty="0"/>
          </a:p>
        </p:txBody>
      </p:sp>
      <p:sp>
        <p:nvSpPr>
          <p:cNvPr id="52" name="Text 50"/>
          <p:cNvSpPr/>
          <p:nvPr/>
        </p:nvSpPr>
        <p:spPr>
          <a:xfrm>
            <a:off x="8494776" y="5065776"/>
            <a:ext cx="2898648" cy="219456"/>
          </a:xfrm>
          <a:prstGeom prst="rect">
            <a:avLst/>
          </a:prstGeom>
          <a:noFill/>
          <a:ln/>
        </p:spPr>
        <p:txBody>
          <a:bodyPr wrap="square" lIns="0" tIns="0" rIns="0" bIns="0" rtlCol="0" anchor="ctr">
            <a:normAutofit/>
          </a:bodyPr>
          <a:lstStyle/>
          <a:p>
            <a:pPr marL="0" indent="0" algn="ctr">
              <a:buNone/>
            </a:pPr>
            <a:r>
              <a:rPr lang="en-US" sz="850" b="1" dirty="0">
                <a:solidFill>
                  <a:srgbClr val="C9823C"/>
                </a:solidFill>
              </a:rPr>
              <a:t>Owner can view sales, inventory, and performance</a:t>
            </a:r>
            <a:endParaRPr lang="en-US" sz="850" dirty="0"/>
          </a:p>
        </p:txBody>
      </p:sp>
      <p:sp>
        <p:nvSpPr>
          <p:cNvPr id="53" name="Text 51"/>
          <p:cNvSpPr/>
          <p:nvPr/>
        </p:nvSpPr>
        <p:spPr>
          <a:xfrm>
            <a:off x="1143000" y="5797296"/>
            <a:ext cx="9921240" cy="438912"/>
          </a:xfrm>
          <a:prstGeom prst="rect">
            <a:avLst/>
          </a:prstGeom>
          <a:solidFill>
            <a:srgbClr val="EAF5E1"/>
          </a:solidFill>
          <a:ln w="12700">
            <a:solidFill>
              <a:srgbClr val="6F8F4E"/>
            </a:solidFill>
          </a:ln>
        </p:spPr>
        <p:txBody>
          <a:bodyPr wrap="square" lIns="1397" tIns="1397" rIns="1397" bIns="1397" rtlCol="0" anchor="ctr">
            <a:normAutofit/>
          </a:bodyPr>
          <a:lstStyle/>
          <a:p>
            <a:pPr marL="0" indent="0" algn="ctr">
              <a:buNone/>
            </a:pPr>
            <a:r>
              <a:rPr lang="en-US" sz="1500" b="1" dirty="0">
                <a:solidFill>
                  <a:srgbClr val="4B2E20"/>
                </a:solidFill>
                <a:latin typeface="Aptos" pitchFamily="34" charset="0"/>
                <a:ea typeface="Aptos" pitchFamily="34" charset="-122"/>
                <a:cs typeface="Aptos" pitchFamily="34" charset="-120"/>
              </a:rPr>
              <a:t>Together, these forms show the minimum working prototype: Orders, Inventory, Schedule, and Reports.</a:t>
            </a:r>
            <a:endParaRPr lang="en-US" sz="1500" dirty="0"/>
          </a:p>
        </p:txBody>
      </p:sp>
      <p:sp>
        <p:nvSpPr>
          <p:cNvPr id="54" name="Text 52"/>
          <p:cNvSpPr/>
          <p:nvPr/>
        </p:nvSpPr>
        <p:spPr>
          <a:xfrm>
            <a:off x="548640" y="6565392"/>
            <a:ext cx="3840480" cy="164592"/>
          </a:xfrm>
          <a:prstGeom prst="rect">
            <a:avLst/>
          </a:prstGeom>
          <a:noFill/>
          <a:ln/>
        </p:spPr>
        <p:txBody>
          <a:bodyPr wrap="square" lIns="0" tIns="0" rIns="0" bIns="0" rtlCol="0" anchor="ctr"/>
          <a:lstStyle/>
          <a:p>
            <a:pPr marL="0" indent="0">
              <a:buNone/>
            </a:pPr>
            <a:r>
              <a:rPr lang="en-US" sz="850" dirty="0">
                <a:solidFill>
                  <a:srgbClr val="8B7765"/>
                </a:solidFill>
              </a:rPr>
              <a:t>RCMS Final Project Presentation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2E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2EA"/>
          </a:solidFill>
          <a:ln w="12700">
            <a:solidFill>
              <a:srgbClr val="F7F2EA">
                <a:alpha val="0"/>
              </a:srgbClr>
            </a:solidFill>
            <a:prstDash val="solid"/>
          </a:ln>
        </p:spPr>
        <p:txBody>
          <a:bodyPr/>
          <a:lstStyle/>
          <a:p>
            <a:endParaRPr lang="en-US"/>
          </a:p>
        </p:txBody>
      </p:sp>
      <p:sp>
        <p:nvSpPr>
          <p:cNvPr id="3" name="Shape 1"/>
          <p:cNvSpPr/>
          <p:nvPr/>
        </p:nvSpPr>
        <p:spPr>
          <a:xfrm>
            <a:off x="0" y="0"/>
            <a:ext cx="12191695" cy="237744"/>
          </a:xfrm>
          <a:prstGeom prst="rect">
            <a:avLst/>
          </a:prstGeom>
          <a:solidFill>
            <a:srgbClr val="4B2E20"/>
          </a:solidFill>
          <a:ln w="12700">
            <a:solidFill>
              <a:srgbClr val="4B2E20">
                <a:alpha val="0"/>
              </a:srgbClr>
            </a:solidFill>
            <a:prstDash val="solid"/>
          </a:ln>
        </p:spPr>
        <p:txBody>
          <a:bodyPr/>
          <a:lstStyle/>
          <a:p>
            <a:endParaRPr lang="en-US"/>
          </a:p>
        </p:txBody>
      </p:sp>
      <p:sp>
        <p:nvSpPr>
          <p:cNvPr id="4" name="Text 2"/>
          <p:cNvSpPr/>
          <p:nvPr/>
        </p:nvSpPr>
        <p:spPr>
          <a:xfrm>
            <a:off x="530352" y="438912"/>
            <a:ext cx="8412480" cy="411480"/>
          </a:xfrm>
          <a:prstGeom prst="rect">
            <a:avLst/>
          </a:prstGeom>
          <a:noFill/>
          <a:ln/>
        </p:spPr>
        <p:txBody>
          <a:bodyPr wrap="square" lIns="0" tIns="0" rIns="0" bIns="0"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Deployment plan: moving RCMS into daily use</a:t>
            </a:r>
            <a:endParaRPr lang="en-US" sz="2400" dirty="0"/>
          </a:p>
        </p:txBody>
      </p:sp>
      <p:sp>
        <p:nvSpPr>
          <p:cNvPr id="5" name="Text 3"/>
          <p:cNvSpPr/>
          <p:nvPr/>
        </p:nvSpPr>
        <p:spPr>
          <a:xfrm>
            <a:off x="548640" y="932688"/>
            <a:ext cx="8778240" cy="256032"/>
          </a:xfrm>
          <a:prstGeom prst="rect">
            <a:avLst/>
          </a:prstGeom>
          <a:noFill/>
          <a:ln/>
        </p:spPr>
        <p:txBody>
          <a:bodyPr wrap="square" lIns="0" tIns="0" rIns="0" bIns="0" rtlCol="0" anchor="ctr"/>
          <a:lstStyle/>
          <a:p>
            <a:pPr marL="0" indent="0">
              <a:buNone/>
            </a:pPr>
            <a:r>
              <a:rPr lang="en-US" sz="1050" dirty="0">
                <a:solidFill>
                  <a:srgbClr val="64748B"/>
                </a:solidFill>
              </a:rPr>
              <a:t>A phased rollout reduces risk and helps users adopt the new system</a:t>
            </a:r>
            <a:endParaRPr lang="en-US" sz="1050" dirty="0"/>
          </a:p>
        </p:txBody>
      </p:sp>
      <p:sp>
        <p:nvSpPr>
          <p:cNvPr id="6" name="Text 4"/>
          <p:cNvSpPr/>
          <p:nvPr/>
        </p:nvSpPr>
        <p:spPr>
          <a:xfrm>
            <a:off x="10899648" y="502920"/>
            <a:ext cx="685800" cy="310896"/>
          </a:xfrm>
          <a:prstGeom prst="rect">
            <a:avLst/>
          </a:prstGeom>
          <a:noFill/>
          <a:ln/>
        </p:spPr>
        <p:txBody>
          <a:bodyPr wrap="square" lIns="0" tIns="0" rIns="0" bIns="0" rtlCol="0" anchor="ctr"/>
          <a:lstStyle/>
          <a:p>
            <a:pPr marL="0" indent="0" algn="r">
              <a:buNone/>
            </a:pPr>
            <a:r>
              <a:rPr lang="en-US" sz="1200" b="1" dirty="0">
                <a:solidFill>
                  <a:srgbClr val="C9823C"/>
                </a:solidFill>
              </a:rPr>
              <a:t>12</a:t>
            </a:r>
            <a:endParaRPr lang="en-US" sz="1200" dirty="0"/>
          </a:p>
        </p:txBody>
      </p:sp>
      <p:sp>
        <p:nvSpPr>
          <p:cNvPr id="7" name="Shape 5"/>
          <p:cNvSpPr/>
          <p:nvPr/>
        </p:nvSpPr>
        <p:spPr>
          <a:xfrm>
            <a:off x="548640" y="1115568"/>
            <a:ext cx="11064240" cy="0"/>
          </a:xfrm>
          <a:prstGeom prst="line">
            <a:avLst/>
          </a:prstGeom>
          <a:noFill/>
          <a:ln w="12700">
            <a:solidFill>
              <a:srgbClr val="D7C7B6"/>
            </a:solidFill>
            <a:prstDash val="solid"/>
          </a:ln>
        </p:spPr>
        <p:txBody>
          <a:bodyPr/>
          <a:lstStyle/>
          <a:p>
            <a:endParaRPr lang="en-US"/>
          </a:p>
        </p:txBody>
      </p:sp>
      <p:sp>
        <p:nvSpPr>
          <p:cNvPr id="8" name="Text 6"/>
          <p:cNvSpPr/>
          <p:nvPr/>
        </p:nvSpPr>
        <p:spPr>
          <a:xfrm>
            <a:off x="1508760" y="1417320"/>
            <a:ext cx="594360" cy="594360"/>
          </a:xfrm>
          <a:prstGeom prst="rect">
            <a:avLst/>
          </a:prstGeom>
          <a:solidFill>
            <a:srgbClr val="6F8F4E"/>
          </a:solidFill>
          <a:ln w="12700">
            <a:solidFill>
              <a:srgbClr val="6F8F4E"/>
            </a:solidFill>
          </a:ln>
        </p:spPr>
        <p:txBody>
          <a:bodyPr wrap="square" lIns="1397" tIns="1397" rIns="1397" bIns="1397" rtlCol="0" anchor="ctr">
            <a:normAutofit/>
          </a:bodyPr>
          <a:lstStyle/>
          <a:p>
            <a:pPr marL="0" indent="0" algn="ctr">
              <a:buNone/>
            </a:pPr>
            <a:r>
              <a:rPr lang="en-US" sz="2200" b="1" dirty="0">
                <a:solidFill>
                  <a:srgbClr val="FFFFFF"/>
                </a:solidFill>
                <a:latin typeface="Aptos" pitchFamily="34" charset="0"/>
                <a:ea typeface="Aptos" pitchFamily="34" charset="-122"/>
                <a:cs typeface="Aptos" pitchFamily="34" charset="-120"/>
              </a:rPr>
              <a:t>1</a:t>
            </a:r>
            <a:endParaRPr lang="en-US" sz="2200" dirty="0"/>
          </a:p>
        </p:txBody>
      </p:sp>
      <p:sp>
        <p:nvSpPr>
          <p:cNvPr id="9" name="Shape 7"/>
          <p:cNvSpPr/>
          <p:nvPr/>
        </p:nvSpPr>
        <p:spPr>
          <a:xfrm>
            <a:off x="2121408" y="1709928"/>
            <a:ext cx="1170432" cy="0"/>
          </a:xfrm>
          <a:prstGeom prst="line">
            <a:avLst/>
          </a:prstGeom>
          <a:noFill/>
          <a:ln w="20320">
            <a:solidFill>
              <a:srgbClr val="D7C7B6"/>
            </a:solidFill>
            <a:prstDash val="solid"/>
            <a:tailEnd type="triangle"/>
          </a:ln>
        </p:spPr>
        <p:txBody>
          <a:bodyPr/>
          <a:lstStyle/>
          <a:p>
            <a:endParaRPr lang="en-US"/>
          </a:p>
        </p:txBody>
      </p:sp>
      <p:sp>
        <p:nvSpPr>
          <p:cNvPr id="10" name="Text 8"/>
          <p:cNvSpPr/>
          <p:nvPr/>
        </p:nvSpPr>
        <p:spPr>
          <a:xfrm>
            <a:off x="731520" y="2221992"/>
            <a:ext cx="2240280" cy="329184"/>
          </a:xfrm>
          <a:prstGeom prst="rect">
            <a:avLst/>
          </a:prstGeom>
          <a:noFill/>
          <a:ln/>
        </p:spPr>
        <p:txBody>
          <a:bodyPr wrap="square" lIns="0" tIns="0" rIns="0" bIns="0" rtlCol="0" anchor="ctr">
            <a:normAutofit/>
          </a:bodyPr>
          <a:lstStyle/>
          <a:p>
            <a:pPr marL="0" indent="0" algn="ctr">
              <a:buNone/>
            </a:pPr>
            <a:r>
              <a:rPr lang="en-US" sz="1700" b="1" dirty="0">
                <a:solidFill>
                  <a:srgbClr val="111827"/>
                </a:solidFill>
              </a:rPr>
              <a:t>Final test</a:t>
            </a:r>
            <a:endParaRPr lang="en-US" sz="1700" dirty="0"/>
          </a:p>
        </p:txBody>
      </p:sp>
      <p:sp>
        <p:nvSpPr>
          <p:cNvPr id="11" name="Text 9"/>
          <p:cNvSpPr/>
          <p:nvPr/>
        </p:nvSpPr>
        <p:spPr>
          <a:xfrm>
            <a:off x="731520" y="2670048"/>
            <a:ext cx="2240280" cy="914400"/>
          </a:xfrm>
          <a:prstGeom prst="rect">
            <a:avLst/>
          </a:prstGeom>
          <a:noFill/>
          <a:ln/>
        </p:spPr>
        <p:txBody>
          <a:bodyPr wrap="square" lIns="254" tIns="254" rIns="254" bIns="254" rtlCol="0" anchor="t">
            <a:normAutofit/>
          </a:bodyPr>
          <a:lstStyle/>
          <a:p>
            <a:pPr marL="0" indent="0" algn="ctr">
              <a:buNone/>
            </a:pPr>
            <a:r>
              <a:rPr lang="en-US" sz="1220" dirty="0">
                <a:solidFill>
                  <a:srgbClr val="64748B"/>
                </a:solidFill>
              </a:rPr>
              <a:t>Verify forms, validation rules, reports, and sample data.</a:t>
            </a:r>
            <a:endParaRPr lang="en-US" sz="1220" dirty="0"/>
          </a:p>
        </p:txBody>
      </p:sp>
      <p:sp>
        <p:nvSpPr>
          <p:cNvPr id="12" name="Text 10"/>
          <p:cNvSpPr/>
          <p:nvPr/>
        </p:nvSpPr>
        <p:spPr>
          <a:xfrm>
            <a:off x="4343400" y="1417320"/>
            <a:ext cx="594360" cy="594360"/>
          </a:xfrm>
          <a:prstGeom prst="rect">
            <a:avLst/>
          </a:prstGeom>
          <a:solidFill>
            <a:srgbClr val="1E4A72"/>
          </a:solidFill>
          <a:ln w="12700">
            <a:solidFill>
              <a:srgbClr val="1E4A72"/>
            </a:solidFill>
          </a:ln>
        </p:spPr>
        <p:txBody>
          <a:bodyPr wrap="square" lIns="1397" tIns="1397" rIns="1397" bIns="1397" rtlCol="0" anchor="ctr">
            <a:normAutofit/>
          </a:bodyPr>
          <a:lstStyle/>
          <a:p>
            <a:pPr marL="0" indent="0" algn="ctr">
              <a:buNone/>
            </a:pPr>
            <a:r>
              <a:rPr lang="en-US" sz="2200" b="1" dirty="0">
                <a:solidFill>
                  <a:srgbClr val="FFFFFF"/>
                </a:solidFill>
                <a:latin typeface="Aptos" pitchFamily="34" charset="0"/>
                <a:ea typeface="Aptos" pitchFamily="34" charset="-122"/>
                <a:cs typeface="Aptos" pitchFamily="34" charset="-120"/>
              </a:rPr>
              <a:t>2</a:t>
            </a:r>
            <a:endParaRPr lang="en-US" sz="2200" dirty="0"/>
          </a:p>
        </p:txBody>
      </p:sp>
      <p:sp>
        <p:nvSpPr>
          <p:cNvPr id="13" name="Shape 11"/>
          <p:cNvSpPr/>
          <p:nvPr/>
        </p:nvSpPr>
        <p:spPr>
          <a:xfrm>
            <a:off x="4956048" y="1709928"/>
            <a:ext cx="1170432" cy="0"/>
          </a:xfrm>
          <a:prstGeom prst="line">
            <a:avLst/>
          </a:prstGeom>
          <a:noFill/>
          <a:ln w="20320">
            <a:solidFill>
              <a:srgbClr val="D7C7B6"/>
            </a:solidFill>
            <a:prstDash val="solid"/>
            <a:tailEnd type="triangle"/>
          </a:ln>
        </p:spPr>
        <p:txBody>
          <a:bodyPr/>
          <a:lstStyle/>
          <a:p>
            <a:endParaRPr lang="en-US"/>
          </a:p>
        </p:txBody>
      </p:sp>
      <p:sp>
        <p:nvSpPr>
          <p:cNvPr id="14" name="Text 12"/>
          <p:cNvSpPr/>
          <p:nvPr/>
        </p:nvSpPr>
        <p:spPr>
          <a:xfrm>
            <a:off x="3566160" y="2221992"/>
            <a:ext cx="2240280" cy="329184"/>
          </a:xfrm>
          <a:prstGeom prst="rect">
            <a:avLst/>
          </a:prstGeom>
          <a:noFill/>
          <a:ln/>
        </p:spPr>
        <p:txBody>
          <a:bodyPr wrap="square" lIns="0" tIns="0" rIns="0" bIns="0" rtlCol="0" anchor="ctr">
            <a:normAutofit/>
          </a:bodyPr>
          <a:lstStyle/>
          <a:p>
            <a:pPr marL="0" indent="0" algn="ctr">
              <a:buNone/>
            </a:pPr>
            <a:r>
              <a:rPr lang="en-US" sz="1700" b="1" dirty="0">
                <a:solidFill>
                  <a:srgbClr val="111827"/>
                </a:solidFill>
              </a:rPr>
              <a:t>Data setup</a:t>
            </a:r>
            <a:endParaRPr lang="en-US" sz="1700" dirty="0"/>
          </a:p>
        </p:txBody>
      </p:sp>
      <p:sp>
        <p:nvSpPr>
          <p:cNvPr id="15" name="Text 13"/>
          <p:cNvSpPr/>
          <p:nvPr/>
        </p:nvSpPr>
        <p:spPr>
          <a:xfrm>
            <a:off x="3566160" y="2670048"/>
            <a:ext cx="2240280" cy="914400"/>
          </a:xfrm>
          <a:prstGeom prst="rect">
            <a:avLst/>
          </a:prstGeom>
          <a:noFill/>
          <a:ln/>
        </p:spPr>
        <p:txBody>
          <a:bodyPr wrap="square" lIns="254" tIns="254" rIns="254" bIns="254" rtlCol="0" anchor="t">
            <a:normAutofit/>
          </a:bodyPr>
          <a:lstStyle/>
          <a:p>
            <a:pPr marL="0" indent="0" algn="ctr">
              <a:buNone/>
            </a:pPr>
            <a:r>
              <a:rPr lang="en-US" sz="1220" dirty="0">
                <a:solidFill>
                  <a:srgbClr val="64748B"/>
                </a:solidFill>
              </a:rPr>
              <a:t>Enter products, employees, starting inventory, and user roles.</a:t>
            </a:r>
            <a:endParaRPr lang="en-US" sz="1220" dirty="0"/>
          </a:p>
        </p:txBody>
      </p:sp>
      <p:sp>
        <p:nvSpPr>
          <p:cNvPr id="16" name="Text 14"/>
          <p:cNvSpPr/>
          <p:nvPr/>
        </p:nvSpPr>
        <p:spPr>
          <a:xfrm>
            <a:off x="7178040" y="1417320"/>
            <a:ext cx="594360" cy="594360"/>
          </a:xfrm>
          <a:prstGeom prst="rect">
            <a:avLst/>
          </a:prstGeom>
          <a:solidFill>
            <a:srgbClr val="C9823C"/>
          </a:solidFill>
          <a:ln w="12700">
            <a:solidFill>
              <a:srgbClr val="C9823C"/>
            </a:solidFill>
          </a:ln>
        </p:spPr>
        <p:txBody>
          <a:bodyPr wrap="square" lIns="1397" tIns="1397" rIns="1397" bIns="1397" rtlCol="0" anchor="ctr">
            <a:normAutofit/>
          </a:bodyPr>
          <a:lstStyle/>
          <a:p>
            <a:pPr marL="0" indent="0" algn="ctr">
              <a:buNone/>
            </a:pPr>
            <a:r>
              <a:rPr lang="en-US" sz="2200" b="1" dirty="0">
                <a:solidFill>
                  <a:srgbClr val="FFFFFF"/>
                </a:solidFill>
                <a:latin typeface="Aptos" pitchFamily="34" charset="0"/>
                <a:ea typeface="Aptos" pitchFamily="34" charset="-122"/>
                <a:cs typeface="Aptos" pitchFamily="34" charset="-120"/>
              </a:rPr>
              <a:t>3</a:t>
            </a:r>
            <a:endParaRPr lang="en-US" sz="2200" dirty="0"/>
          </a:p>
        </p:txBody>
      </p:sp>
      <p:sp>
        <p:nvSpPr>
          <p:cNvPr id="17" name="Shape 15"/>
          <p:cNvSpPr/>
          <p:nvPr/>
        </p:nvSpPr>
        <p:spPr>
          <a:xfrm>
            <a:off x="7790688" y="1709928"/>
            <a:ext cx="1170432" cy="0"/>
          </a:xfrm>
          <a:prstGeom prst="line">
            <a:avLst/>
          </a:prstGeom>
          <a:noFill/>
          <a:ln w="20320">
            <a:solidFill>
              <a:srgbClr val="D7C7B6"/>
            </a:solidFill>
            <a:prstDash val="solid"/>
            <a:tailEnd type="triangle"/>
          </a:ln>
        </p:spPr>
        <p:txBody>
          <a:bodyPr/>
          <a:lstStyle/>
          <a:p>
            <a:endParaRPr lang="en-US"/>
          </a:p>
        </p:txBody>
      </p:sp>
      <p:sp>
        <p:nvSpPr>
          <p:cNvPr id="18" name="Text 16"/>
          <p:cNvSpPr/>
          <p:nvPr/>
        </p:nvSpPr>
        <p:spPr>
          <a:xfrm>
            <a:off x="6400800" y="2221992"/>
            <a:ext cx="2240280" cy="329184"/>
          </a:xfrm>
          <a:prstGeom prst="rect">
            <a:avLst/>
          </a:prstGeom>
          <a:noFill/>
          <a:ln/>
        </p:spPr>
        <p:txBody>
          <a:bodyPr wrap="square" lIns="0" tIns="0" rIns="0" bIns="0" rtlCol="0" anchor="ctr">
            <a:normAutofit/>
          </a:bodyPr>
          <a:lstStyle/>
          <a:p>
            <a:pPr marL="0" indent="0" algn="ctr">
              <a:buNone/>
            </a:pPr>
            <a:r>
              <a:rPr lang="en-US" sz="1700" b="1" dirty="0">
                <a:solidFill>
                  <a:srgbClr val="111827"/>
                </a:solidFill>
              </a:rPr>
              <a:t>Pilot + training</a:t>
            </a:r>
            <a:endParaRPr lang="en-US" sz="1700" dirty="0"/>
          </a:p>
        </p:txBody>
      </p:sp>
      <p:sp>
        <p:nvSpPr>
          <p:cNvPr id="19" name="Text 17"/>
          <p:cNvSpPr/>
          <p:nvPr/>
        </p:nvSpPr>
        <p:spPr>
          <a:xfrm>
            <a:off x="6400800" y="2670048"/>
            <a:ext cx="2240280" cy="914400"/>
          </a:xfrm>
          <a:prstGeom prst="rect">
            <a:avLst/>
          </a:prstGeom>
          <a:noFill/>
          <a:ln/>
        </p:spPr>
        <p:txBody>
          <a:bodyPr wrap="square" lIns="254" tIns="254" rIns="254" bIns="254" rtlCol="0" anchor="t">
            <a:normAutofit/>
          </a:bodyPr>
          <a:lstStyle/>
          <a:p>
            <a:pPr marL="0" indent="0" algn="ctr">
              <a:buNone/>
            </a:pPr>
            <a:r>
              <a:rPr lang="en-US" sz="1220" dirty="0">
                <a:solidFill>
                  <a:srgbClr val="64748B"/>
                </a:solidFill>
              </a:rPr>
              <a:t>Run the system with the manager and selected employees first.</a:t>
            </a:r>
            <a:endParaRPr lang="en-US" sz="1220" dirty="0"/>
          </a:p>
        </p:txBody>
      </p:sp>
      <p:sp>
        <p:nvSpPr>
          <p:cNvPr id="20" name="Text 18"/>
          <p:cNvSpPr/>
          <p:nvPr/>
        </p:nvSpPr>
        <p:spPr>
          <a:xfrm>
            <a:off x="10012680" y="1417320"/>
            <a:ext cx="594360" cy="594360"/>
          </a:xfrm>
          <a:prstGeom prst="rect">
            <a:avLst/>
          </a:prstGeom>
          <a:solidFill>
            <a:srgbClr val="4B2E20"/>
          </a:solidFill>
          <a:ln w="12700">
            <a:solidFill>
              <a:srgbClr val="4B2E20"/>
            </a:solidFill>
          </a:ln>
        </p:spPr>
        <p:txBody>
          <a:bodyPr wrap="square" lIns="1397" tIns="1397" rIns="1397" bIns="1397" rtlCol="0" anchor="ctr">
            <a:normAutofit/>
          </a:bodyPr>
          <a:lstStyle/>
          <a:p>
            <a:pPr marL="0" indent="0" algn="ctr">
              <a:buNone/>
            </a:pPr>
            <a:r>
              <a:rPr lang="en-US" sz="2200" b="1" dirty="0">
                <a:solidFill>
                  <a:srgbClr val="FFFFFF"/>
                </a:solidFill>
                <a:latin typeface="Aptos" pitchFamily="34" charset="0"/>
                <a:ea typeface="Aptos" pitchFamily="34" charset="-122"/>
                <a:cs typeface="Aptos" pitchFamily="34" charset="-120"/>
              </a:rPr>
              <a:t>4</a:t>
            </a:r>
            <a:endParaRPr lang="en-US" sz="2200" dirty="0"/>
          </a:p>
        </p:txBody>
      </p:sp>
      <p:sp>
        <p:nvSpPr>
          <p:cNvPr id="21" name="Shape 19"/>
          <p:cNvSpPr/>
          <p:nvPr/>
        </p:nvSpPr>
        <p:spPr>
          <a:xfrm>
            <a:off x="10625328" y="1709928"/>
            <a:ext cx="1170432" cy="0"/>
          </a:xfrm>
          <a:prstGeom prst="line">
            <a:avLst/>
          </a:prstGeom>
          <a:noFill/>
          <a:ln w="20320">
            <a:solidFill>
              <a:srgbClr val="D7C7B6"/>
            </a:solidFill>
            <a:prstDash val="solid"/>
            <a:tailEnd type="none"/>
          </a:ln>
        </p:spPr>
        <p:txBody>
          <a:bodyPr/>
          <a:lstStyle/>
          <a:p>
            <a:endParaRPr lang="en-US"/>
          </a:p>
        </p:txBody>
      </p:sp>
      <p:sp>
        <p:nvSpPr>
          <p:cNvPr id="22" name="Text 20"/>
          <p:cNvSpPr/>
          <p:nvPr/>
        </p:nvSpPr>
        <p:spPr>
          <a:xfrm>
            <a:off x="9235440" y="2221992"/>
            <a:ext cx="2240280" cy="329184"/>
          </a:xfrm>
          <a:prstGeom prst="rect">
            <a:avLst/>
          </a:prstGeom>
          <a:noFill/>
          <a:ln/>
        </p:spPr>
        <p:txBody>
          <a:bodyPr wrap="square" lIns="0" tIns="0" rIns="0" bIns="0" rtlCol="0" anchor="ctr">
            <a:normAutofit/>
          </a:bodyPr>
          <a:lstStyle/>
          <a:p>
            <a:pPr marL="0" indent="0" algn="ctr">
              <a:buNone/>
            </a:pPr>
            <a:r>
              <a:rPr lang="en-US" sz="1700" b="1" dirty="0">
                <a:solidFill>
                  <a:srgbClr val="111827"/>
                </a:solidFill>
              </a:rPr>
              <a:t>Go-live support</a:t>
            </a:r>
            <a:endParaRPr lang="en-US" sz="1700" dirty="0"/>
          </a:p>
        </p:txBody>
      </p:sp>
      <p:sp>
        <p:nvSpPr>
          <p:cNvPr id="23" name="Text 21"/>
          <p:cNvSpPr/>
          <p:nvPr/>
        </p:nvSpPr>
        <p:spPr>
          <a:xfrm>
            <a:off x="9235440" y="2670048"/>
            <a:ext cx="2240280" cy="914400"/>
          </a:xfrm>
          <a:prstGeom prst="rect">
            <a:avLst/>
          </a:prstGeom>
          <a:noFill/>
          <a:ln/>
        </p:spPr>
        <p:txBody>
          <a:bodyPr wrap="square" lIns="254" tIns="254" rIns="254" bIns="254" rtlCol="0" anchor="t">
            <a:normAutofit/>
          </a:bodyPr>
          <a:lstStyle/>
          <a:p>
            <a:pPr marL="0" indent="0" algn="ctr">
              <a:buNone/>
            </a:pPr>
            <a:r>
              <a:rPr lang="en-US" sz="1220" dirty="0">
                <a:solidFill>
                  <a:srgbClr val="64748B"/>
                </a:solidFill>
              </a:rPr>
              <a:t>Switch to RCMS, monitor issues, and back up the database daily.</a:t>
            </a:r>
            <a:endParaRPr lang="en-US" sz="1220" dirty="0"/>
          </a:p>
        </p:txBody>
      </p:sp>
      <p:sp>
        <p:nvSpPr>
          <p:cNvPr id="24" name="Text 22"/>
          <p:cNvSpPr/>
          <p:nvPr/>
        </p:nvSpPr>
        <p:spPr>
          <a:xfrm>
            <a:off x="1234440" y="4343400"/>
            <a:ext cx="9738360" cy="457200"/>
          </a:xfrm>
          <a:prstGeom prst="rect">
            <a:avLst/>
          </a:prstGeom>
          <a:solidFill>
            <a:srgbClr val="1E4A72"/>
          </a:solidFill>
          <a:ln w="12700">
            <a:solidFill>
              <a:srgbClr val="1E4A72"/>
            </a:solidFill>
          </a:ln>
        </p:spPr>
        <p:txBody>
          <a:bodyPr wrap="square" lIns="1397" tIns="1397" rIns="1397" bIns="1397"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Deployment environment</a:t>
            </a:r>
            <a:endParaRPr lang="en-US" sz="1400" dirty="0"/>
          </a:p>
        </p:txBody>
      </p:sp>
      <p:sp>
        <p:nvSpPr>
          <p:cNvPr id="25" name="Text 23"/>
          <p:cNvSpPr/>
          <p:nvPr/>
        </p:nvSpPr>
        <p:spPr>
          <a:xfrm>
            <a:off x="1344168" y="4910328"/>
            <a:ext cx="9518904" cy="795528"/>
          </a:xfrm>
          <a:prstGeom prst="rect">
            <a:avLst/>
          </a:prstGeom>
          <a:noFill/>
          <a:ln/>
        </p:spPr>
        <p:txBody>
          <a:bodyPr wrap="square" lIns="508" tIns="508" rIns="508" bIns="508" rtlCol="0" anchor="t">
            <a:normAutofit/>
          </a:bodyPr>
          <a:lstStyle/>
          <a:p>
            <a:r>
              <a:rPr lang="en-US" sz="1220" dirty="0">
                <a:solidFill>
                  <a:srgbClr val="111827"/>
                </a:solidFill>
              </a:rPr>
              <a:t>• Microsoft Access prototype with related tables, forms, queries, and reports.</a:t>
            </a:r>
            <a:endParaRPr lang="en-US" sz="1220" dirty="0"/>
          </a:p>
          <a:p>
            <a:r>
              <a:rPr lang="en-US" sz="1220" dirty="0">
                <a:solidFill>
                  <a:srgbClr val="111827"/>
                </a:solidFill>
              </a:rPr>
              <a:t>• Shared database location with scheduled backups.</a:t>
            </a:r>
            <a:endParaRPr lang="en-US" sz="1220" dirty="0"/>
          </a:p>
          <a:p>
            <a:r>
              <a:rPr lang="en-US" sz="1220" dirty="0">
                <a:solidFill>
                  <a:srgbClr val="111827"/>
                </a:solidFill>
              </a:rPr>
              <a:t>• Short user guide for order, inventory, schedule, and report tasks.</a:t>
            </a:r>
            <a:endParaRPr lang="en-US" sz="1220" dirty="0"/>
          </a:p>
        </p:txBody>
      </p:sp>
      <p:sp>
        <p:nvSpPr>
          <p:cNvPr id="26" name="Text 24"/>
          <p:cNvSpPr/>
          <p:nvPr/>
        </p:nvSpPr>
        <p:spPr>
          <a:xfrm>
            <a:off x="548640" y="6565392"/>
            <a:ext cx="3840480" cy="164592"/>
          </a:xfrm>
          <a:prstGeom prst="rect">
            <a:avLst/>
          </a:prstGeom>
          <a:noFill/>
          <a:ln/>
        </p:spPr>
        <p:txBody>
          <a:bodyPr wrap="square" lIns="0" tIns="0" rIns="0" bIns="0" rtlCol="0" anchor="ctr"/>
          <a:lstStyle/>
          <a:p>
            <a:pPr marL="0" indent="0">
              <a:buNone/>
            </a:pPr>
            <a:r>
              <a:rPr lang="en-US" sz="850" dirty="0">
                <a:solidFill>
                  <a:srgbClr val="8B7765"/>
                </a:solidFill>
              </a:rPr>
              <a:t>RCMS Final Project Presentation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9F2"/>
        </a:solidFill>
        <a:effectLst/>
      </p:bgPr>
    </p:bg>
    <p:spTree>
      <p:nvGrpSpPr>
        <p:cNvPr id="1" name=""/>
        <p:cNvGrpSpPr/>
        <p:nvPr/>
      </p:nvGrpSpPr>
      <p:grpSpPr>
        <a:xfrm>
          <a:off x="0" y="0"/>
          <a:ext cx="0" cy="0"/>
          <a:chOff x="0" y="0"/>
          <a:chExt cx="0" cy="0"/>
        </a:xfrm>
      </p:grpSpPr>
      <p:pic>
        <p:nvPicPr>
          <p:cNvPr id="2" name="Image 0" descr="/mnt/data/coffee_dark.png"/>
          <p:cNvPicPr>
            <a:picLocks noChangeAspect="1"/>
          </p:cNvPicPr>
          <p:nvPr/>
        </p:nvPicPr>
        <p:blipFill>
          <a:blip r:embed="rId3"/>
          <a:srcRect r="-51"/>
          <a:stretch/>
        </p:blipFill>
        <p:spPr>
          <a:xfrm>
            <a:off x="0" y="0"/>
            <a:ext cx="12191695" cy="6858000"/>
          </a:xfrm>
          <a:prstGeom prst="rect">
            <a:avLst/>
          </a:prstGeom>
        </p:spPr>
      </p:pic>
      <p:sp>
        <p:nvSpPr>
          <p:cNvPr id="3" name="Text 0"/>
          <p:cNvSpPr/>
          <p:nvPr/>
        </p:nvSpPr>
        <p:spPr>
          <a:xfrm>
            <a:off x="685800" y="694944"/>
            <a:ext cx="7315200" cy="512064"/>
          </a:xfrm>
          <a:prstGeom prst="rect">
            <a:avLst/>
          </a:prstGeom>
          <a:noFill/>
          <a:ln/>
        </p:spPr>
        <p:txBody>
          <a:bodyPr wrap="square" lIns="0" tIns="0" rIns="0" bIns="0" rtlCol="0" anchor="ctr"/>
          <a:lstStyle/>
          <a:p>
            <a:pPr marL="0" indent="0">
              <a:buNone/>
            </a:pPr>
            <a:r>
              <a:rPr lang="en-US" sz="3200" b="1" dirty="0">
                <a:solidFill>
                  <a:srgbClr val="FFFFFF"/>
                </a:solidFill>
                <a:latin typeface="Aptos Display" pitchFamily="34" charset="0"/>
                <a:ea typeface="Aptos Display" pitchFamily="34" charset="-122"/>
                <a:cs typeface="Aptos Display" pitchFamily="34" charset="-120"/>
              </a:rPr>
              <a:t>ROI and future prospects</a:t>
            </a:r>
            <a:endParaRPr lang="en-US" sz="3200" dirty="0"/>
          </a:p>
        </p:txBody>
      </p:sp>
      <p:sp>
        <p:nvSpPr>
          <p:cNvPr id="4" name="Text 1"/>
          <p:cNvSpPr/>
          <p:nvPr/>
        </p:nvSpPr>
        <p:spPr>
          <a:xfrm>
            <a:off x="713232" y="1325880"/>
            <a:ext cx="6858000" cy="329184"/>
          </a:xfrm>
          <a:prstGeom prst="rect">
            <a:avLst/>
          </a:prstGeom>
          <a:noFill/>
          <a:ln/>
        </p:spPr>
        <p:txBody>
          <a:bodyPr wrap="square" lIns="0" tIns="0" rIns="0" bIns="0" rtlCol="0" anchor="ctr"/>
          <a:lstStyle/>
          <a:p>
            <a:pPr marL="0" indent="0">
              <a:buNone/>
            </a:pPr>
            <a:r>
              <a:rPr lang="en-US" sz="1500" dirty="0">
                <a:solidFill>
                  <a:srgbClr val="E9D8C7"/>
                </a:solidFill>
              </a:rPr>
              <a:t>RCMS improves daily control now and creates a foundation for future growth.</a:t>
            </a:r>
            <a:endParaRPr lang="en-US" sz="1500" dirty="0"/>
          </a:p>
        </p:txBody>
      </p:sp>
      <p:sp>
        <p:nvSpPr>
          <p:cNvPr id="5" name="Text 2"/>
          <p:cNvSpPr/>
          <p:nvPr/>
        </p:nvSpPr>
        <p:spPr>
          <a:xfrm>
            <a:off x="777240" y="1965960"/>
            <a:ext cx="1920240" cy="429768"/>
          </a:xfrm>
          <a:prstGeom prst="rect">
            <a:avLst/>
          </a:prstGeom>
          <a:solidFill>
            <a:srgbClr val="6F8F4E"/>
          </a:solidFill>
          <a:ln w="12700">
            <a:solidFill>
              <a:srgbClr val="6F8F4E"/>
            </a:solidFill>
          </a:ln>
        </p:spPr>
        <p:txBody>
          <a:bodyPr wrap="square" lIns="1397" tIns="1397" rIns="1397" bIns="1397"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Time saved</a:t>
            </a:r>
            <a:endParaRPr lang="en-US" sz="1400" dirty="0"/>
          </a:p>
        </p:txBody>
      </p:sp>
      <p:sp>
        <p:nvSpPr>
          <p:cNvPr id="6" name="Text 3"/>
          <p:cNvSpPr/>
          <p:nvPr/>
        </p:nvSpPr>
        <p:spPr>
          <a:xfrm>
            <a:off x="2880360" y="2020824"/>
            <a:ext cx="4663440" cy="329184"/>
          </a:xfrm>
          <a:prstGeom prst="rect">
            <a:avLst/>
          </a:prstGeom>
          <a:noFill/>
          <a:ln/>
        </p:spPr>
        <p:txBody>
          <a:bodyPr wrap="square" lIns="0" tIns="0" rIns="0" bIns="0" rtlCol="0" anchor="ctr">
            <a:normAutofit/>
          </a:bodyPr>
          <a:lstStyle/>
          <a:p>
            <a:pPr marL="0" indent="0">
              <a:buNone/>
            </a:pPr>
            <a:r>
              <a:rPr lang="en-US" sz="1280" dirty="0">
                <a:solidFill>
                  <a:srgbClr val="FFFFFF"/>
                </a:solidFill>
              </a:rPr>
              <a:t>Less manual checking of orders, inventory, and schedules.</a:t>
            </a:r>
            <a:endParaRPr lang="en-US" sz="1280" dirty="0"/>
          </a:p>
        </p:txBody>
      </p:sp>
      <p:sp>
        <p:nvSpPr>
          <p:cNvPr id="7" name="Text 4"/>
          <p:cNvSpPr/>
          <p:nvPr/>
        </p:nvSpPr>
        <p:spPr>
          <a:xfrm>
            <a:off x="777240" y="2880360"/>
            <a:ext cx="1920240" cy="429768"/>
          </a:xfrm>
          <a:prstGeom prst="rect">
            <a:avLst/>
          </a:prstGeom>
          <a:solidFill>
            <a:srgbClr val="1E4A72"/>
          </a:solidFill>
          <a:ln w="12700">
            <a:solidFill>
              <a:srgbClr val="1E4A72"/>
            </a:solidFill>
          </a:ln>
        </p:spPr>
        <p:txBody>
          <a:bodyPr wrap="square" lIns="1397" tIns="1397" rIns="1397" bIns="1397"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Fewer errors</a:t>
            </a:r>
            <a:endParaRPr lang="en-US" sz="1400" dirty="0"/>
          </a:p>
        </p:txBody>
      </p:sp>
      <p:sp>
        <p:nvSpPr>
          <p:cNvPr id="8" name="Text 5"/>
          <p:cNvSpPr/>
          <p:nvPr/>
        </p:nvSpPr>
        <p:spPr>
          <a:xfrm>
            <a:off x="2880360" y="2935224"/>
            <a:ext cx="4663440" cy="329184"/>
          </a:xfrm>
          <a:prstGeom prst="rect">
            <a:avLst/>
          </a:prstGeom>
          <a:noFill/>
          <a:ln/>
        </p:spPr>
        <p:txBody>
          <a:bodyPr wrap="square" lIns="0" tIns="0" rIns="0" bIns="0" rtlCol="0" anchor="ctr">
            <a:normAutofit fontScale="92500"/>
          </a:bodyPr>
          <a:lstStyle/>
          <a:p>
            <a:pPr marL="0" indent="0">
              <a:buNone/>
            </a:pPr>
            <a:r>
              <a:rPr lang="en-US" sz="1280" dirty="0">
                <a:solidFill>
                  <a:srgbClr val="FFFFFF"/>
                </a:solidFill>
              </a:rPr>
              <a:t>Validation and connected data reduce duplicate or missing records.</a:t>
            </a:r>
            <a:endParaRPr lang="en-US" sz="1280" dirty="0"/>
          </a:p>
        </p:txBody>
      </p:sp>
      <p:sp>
        <p:nvSpPr>
          <p:cNvPr id="9" name="Text 6"/>
          <p:cNvSpPr/>
          <p:nvPr/>
        </p:nvSpPr>
        <p:spPr>
          <a:xfrm>
            <a:off x="777240" y="3794760"/>
            <a:ext cx="1920240" cy="429768"/>
          </a:xfrm>
          <a:prstGeom prst="rect">
            <a:avLst/>
          </a:prstGeom>
          <a:solidFill>
            <a:srgbClr val="C9823C"/>
          </a:solidFill>
          <a:ln w="12700">
            <a:solidFill>
              <a:srgbClr val="C9823C"/>
            </a:solidFill>
          </a:ln>
        </p:spPr>
        <p:txBody>
          <a:bodyPr wrap="square" lIns="1397" tIns="1397" rIns="1397" bIns="1397"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Better decisions</a:t>
            </a:r>
            <a:endParaRPr lang="en-US" sz="1400" dirty="0"/>
          </a:p>
        </p:txBody>
      </p:sp>
      <p:sp>
        <p:nvSpPr>
          <p:cNvPr id="10" name="Text 7"/>
          <p:cNvSpPr/>
          <p:nvPr/>
        </p:nvSpPr>
        <p:spPr>
          <a:xfrm>
            <a:off x="2880360" y="3849624"/>
            <a:ext cx="4663440" cy="329184"/>
          </a:xfrm>
          <a:prstGeom prst="rect">
            <a:avLst/>
          </a:prstGeom>
          <a:noFill/>
          <a:ln/>
        </p:spPr>
        <p:txBody>
          <a:bodyPr wrap="square" lIns="0" tIns="0" rIns="0" bIns="0" rtlCol="0" anchor="ctr">
            <a:normAutofit/>
          </a:bodyPr>
          <a:lstStyle/>
          <a:p>
            <a:pPr marL="0" indent="0">
              <a:buNone/>
            </a:pPr>
            <a:r>
              <a:rPr lang="en-US" sz="1280" dirty="0">
                <a:solidFill>
                  <a:srgbClr val="FFFFFF"/>
                </a:solidFill>
              </a:rPr>
              <a:t>Owner reports turn daily data into business insight.</a:t>
            </a:r>
            <a:endParaRPr lang="en-US" sz="1280" dirty="0"/>
          </a:p>
        </p:txBody>
      </p:sp>
      <p:sp>
        <p:nvSpPr>
          <p:cNvPr id="11" name="Text 8"/>
          <p:cNvSpPr/>
          <p:nvPr/>
        </p:nvSpPr>
        <p:spPr>
          <a:xfrm>
            <a:off x="7973568" y="1874520"/>
            <a:ext cx="3474720" cy="457200"/>
          </a:xfrm>
          <a:prstGeom prst="rect">
            <a:avLst/>
          </a:prstGeom>
          <a:solidFill>
            <a:srgbClr val="6F8F4E"/>
          </a:solidFill>
          <a:ln w="12700">
            <a:solidFill>
              <a:srgbClr val="6F8F4E"/>
            </a:solidFill>
          </a:ln>
        </p:spPr>
        <p:txBody>
          <a:bodyPr wrap="square" lIns="1397" tIns="1397" rIns="1397" bIns="1397"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Future improvements</a:t>
            </a:r>
            <a:endParaRPr lang="en-US" sz="1500" dirty="0"/>
          </a:p>
        </p:txBody>
      </p:sp>
      <p:sp>
        <p:nvSpPr>
          <p:cNvPr id="12" name="Text 9"/>
          <p:cNvSpPr/>
          <p:nvPr/>
        </p:nvSpPr>
        <p:spPr>
          <a:xfrm>
            <a:off x="8083296" y="2441448"/>
            <a:ext cx="3255264" cy="2350008"/>
          </a:xfrm>
          <a:prstGeom prst="rect">
            <a:avLst/>
          </a:prstGeom>
          <a:noFill/>
          <a:ln/>
        </p:spPr>
        <p:txBody>
          <a:bodyPr wrap="square" lIns="508" tIns="508" rIns="508" bIns="508" rtlCol="0" anchor="t">
            <a:normAutofit/>
          </a:bodyPr>
          <a:lstStyle/>
          <a:p>
            <a:r>
              <a:rPr lang="en-US" sz="1220" dirty="0">
                <a:solidFill>
                  <a:srgbClr val="111827"/>
                </a:solidFill>
              </a:rPr>
              <a:t>• Online ordering and customer loyalty module</a:t>
            </a:r>
            <a:endParaRPr lang="en-US" sz="1220" dirty="0"/>
          </a:p>
          <a:p>
            <a:r>
              <a:rPr lang="en-US" sz="1220" dirty="0">
                <a:solidFill>
                  <a:srgbClr val="111827"/>
                </a:solidFill>
              </a:rPr>
              <a:t>• Mobile schedule viewing for employees</a:t>
            </a:r>
            <a:endParaRPr lang="en-US" sz="1220" dirty="0"/>
          </a:p>
          <a:p>
            <a:r>
              <a:rPr lang="en-US" sz="1220" dirty="0">
                <a:solidFill>
                  <a:srgbClr val="111827"/>
                </a:solidFill>
              </a:rPr>
              <a:t>• Inventory forecasting based on sales patterns</a:t>
            </a:r>
            <a:endParaRPr lang="en-US" sz="1220" dirty="0"/>
          </a:p>
          <a:p>
            <a:r>
              <a:rPr lang="en-US" sz="1220" dirty="0">
                <a:solidFill>
                  <a:srgbClr val="111827"/>
                </a:solidFill>
              </a:rPr>
              <a:t>• Multi-store support if Rous Coffee expands</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1101</TotalTime>
  <Words>1564</Words>
  <Application>Microsoft Macintosh PowerPoint</Application>
  <PresentationFormat>Widescreen</PresentationFormat>
  <Paragraphs>276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DePaul Systems Analysis and Design S26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Rous Coffee Management System (RCMS)</dc:title>
  <dc:subject>HW6 Final Project Presentation: Rous Coffee Management System</dc:subject>
  <dc:creator>OpenAI</dc:creator>
  <cp:lastModifiedBy>Aroush Shaikh</cp:lastModifiedBy>
  <cp:revision>3</cp:revision>
  <dcterms:created xsi:type="dcterms:W3CDTF">2026-06-07T06:17:53Z</dcterms:created>
  <dcterms:modified xsi:type="dcterms:W3CDTF">2026-06-08T20:18:29Z</dcterms:modified>
</cp:coreProperties>
</file>